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DA16412-8DA7-4E10-A734-24902FDF6F4A}">
  <a:tblStyle styleId="{BDA16412-8DA7-4E10-A734-24902FDF6F4A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78887D41-1FAD-4C7D-B81F-CF3FCBB7B7C2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g3ebd459c472_0_473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g3ebd459c472_0_473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" name="Google Shape;2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Здесь важно отделить проблему от цели. Проблема не в том, что нужен OCR как технология, а в том, что весь процесс внесения юридически значимых данных выполняется вручную: нужно прочитать скан, понять тип документа, найти реквизиты и перенести их в ИС.</a:t>
            </a:r>
            <a:endParaRPr/>
          </a:p>
        </p:txBody>
      </p:sp>
      <p:sp>
        <p:nvSpPr>
          <p:cNvPr id="28" name="Google Shape;28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g3eae8eeb70d_2_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" name="Google Shape;42;g3eae8eeb70d_2_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g3eae8eeb70d_2_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" name="Google Shape;6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Цель лучше не формулировать как “сделать OCR” или “использовать нейросети”. Цель работы шире: разработать и исследовать конвейер обработки документов. OCR, классификация и извлечение полей - это этапы достижения цели.</a:t>
            </a:r>
            <a:endParaRPr/>
          </a:p>
        </p:txBody>
      </p:sp>
      <p:sp>
        <p:nvSpPr>
          <p:cNvPr id="69" name="Google Shape;69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ebd459c472_0_8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ebd459c472_0_8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g3ebd459c472_0_8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ebd459c472_0_1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ebd459c472_0_12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g3ebd459c472_0_12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ec2fd7449a_0_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" name="Google Shape;116;g3ec2fd7449a_0_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400">
                <a:solidFill>
                  <a:srgbClr val="222222"/>
                </a:solidFill>
              </a:rPr>
              <a:t>В рамках первой задачи были проанализированы модели для распознавания, классификации и извлечения структурированной информации. Каждый из этих подходов закрывает только свой этап обработки документа.</a:t>
            </a:r>
            <a:br>
              <a:rPr lang="en-US" sz="1400"/>
            </a:b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400"/>
              <a:t>Из этого следует что: готовые решения не полностью подходят для обработки исследуемых юридических документов. </a:t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7" name="Google Shape;117;g3ec2fd7449a_0_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ebd459c472_0_58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ebd459c472_0_58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Для дальнейшей работы, с эталонным корпусом документов, нами были подготовлены текстовые файлы с полным содержанием каждого из 12 документов. Текст был получен при помощи ручного перевода документа в текстовый формат. Таким образом полученные текстовые файлы можно рассматривать как эталонные.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g3ebd459c472_0_58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ebd459c472_0_66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ebd459c472_0_66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/>
              <a:t>На основе сформированного корпуса и выявленных особенностей юридических документов был разработан программный конвейер автоматизированной обработки. Его задача — последовательно преобразовать исходный PDF-скан в структурированный результат, пригодный для дальнейшего использования в информационной системе. 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/>
              <a:t>Разработанный конвейер состоит из трех последовательных этапов: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/>
              <a:t>1. OCR — получение текста из PDF-скана;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/>
              <a:t>2. Классификация — определение типа документа;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/>
              <a:t>3. Извлечение полей — формирование JSON и итогового XML.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/>
              <a:t>Такое разделение позволяет поэтапно контролировать обработку документа и сохранять промежуточные результаты.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g3ebd459c472_0_66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ead7adb856_0_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ead7adb856_0_3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44450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На вход системе подается документ. Имя самого архива может быть произвольным; для классификации значение имеет именно внутренняя структура папок. Внутри папок могут лежать как PDF, так и TXT-файлы, однако предпочтительным вариантом являются PDF, поскольку тогда весь процесс, включая OCR, воспроизводится автоматически. </a:t>
            </a:r>
            <a:endParaRPr sz="1400"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4450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На выходе для каждого обработанного документа сохраняются: извлеченный текст, JSON с результатом классификации и диагностикой, JSON с найденными полями, итоговый XML, а также текст промпта для локальной модели, если эта модель была включена. По окончании очередного запуска создается единый ZIP-архив с результатами текущего прогона, что упрощает передачу итогов работы и их ручную проверку. </a:t>
            </a:r>
            <a:endParaRPr sz="1400"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g3ead7adb856_0_3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ead7adb856_0_5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ead7adb856_0_5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46"/>
              <a:t>На первом этапе PDF-документ преобразуется в текстовое представление.</a:t>
            </a:r>
            <a:endParaRPr sz="1546"/>
          </a:p>
          <a:p>
            <a:pPr indent="0" lvl="0" marL="0" marR="0" rtl="0" algn="l">
              <a:lnSpc>
                <a:spcPct val="115000"/>
              </a:lnSpc>
              <a:spcBef>
                <a:spcPts val="1189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46"/>
              <a:t>Что выполняется:</a:t>
            </a:r>
            <a:endParaRPr sz="1546"/>
          </a:p>
          <a:p>
            <a:pPr indent="0" lvl="0" marL="0" marR="0" rtl="0" algn="l">
              <a:lnSpc>
                <a:spcPct val="115000"/>
              </a:lnSpc>
              <a:spcBef>
                <a:spcPts val="1189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46"/>
              <a:t>• поиск информативной страницы;</a:t>
            </a:r>
            <a:endParaRPr sz="1546"/>
          </a:p>
          <a:p>
            <a:pPr indent="0" lvl="0" marL="0" marR="0" rtl="0" algn="l">
              <a:lnSpc>
                <a:spcPct val="115000"/>
              </a:lnSpc>
              <a:spcBef>
                <a:spcPts val="1189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46"/>
              <a:t>• рендеринг страницы в изображение;</a:t>
            </a:r>
            <a:endParaRPr sz="1546"/>
          </a:p>
          <a:p>
            <a:pPr indent="0" lvl="0" marL="0" marR="0" rtl="0" algn="l">
              <a:lnSpc>
                <a:spcPct val="115000"/>
              </a:lnSpc>
              <a:spcBef>
                <a:spcPts val="1189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46"/>
              <a:t>• очистка цветных выделений, печатей и пустых полей;</a:t>
            </a:r>
            <a:endParaRPr sz="1546"/>
          </a:p>
          <a:p>
            <a:pPr indent="0" lvl="0" marL="0" marR="0" rtl="0" algn="l">
              <a:lnSpc>
                <a:spcPct val="115000"/>
              </a:lnSpc>
              <a:spcBef>
                <a:spcPts val="1189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46"/>
              <a:t>• OCR-распознавание текста;</a:t>
            </a:r>
            <a:endParaRPr sz="1546"/>
          </a:p>
          <a:p>
            <a:pPr indent="0" lvl="0" marL="0" marR="0" rtl="0" algn="l">
              <a:lnSpc>
                <a:spcPct val="115000"/>
              </a:lnSpc>
              <a:spcBef>
                <a:spcPts val="1189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46"/>
              <a:t>• сохранение результата в TXT.</a:t>
            </a:r>
            <a:endParaRPr sz="1546"/>
          </a:p>
          <a:p>
            <a:pPr indent="0" lvl="0" marL="0" marR="0" rtl="0" algn="l">
              <a:lnSpc>
                <a:spcPct val="115000"/>
              </a:lnSpc>
              <a:spcBef>
                <a:spcPts val="1189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46"/>
              <a:t>Для повышения качества распознавания используются PyMuPDF и OpenCV: страница переводится в изображение, очищается от лишних элементов и подготавливается для OCR.</a:t>
            </a:r>
            <a:endParaRPr sz="1546"/>
          </a:p>
          <a:p>
            <a:pPr indent="0" lvl="0" marL="0" marR="0" rtl="0" algn="l">
              <a:lnSpc>
                <a:spcPct val="115000"/>
              </a:lnSpc>
              <a:spcBef>
                <a:spcPts val="1189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546"/>
          </a:p>
          <a:p>
            <a:pPr indent="0" lvl="0" marL="0" rtl="0" algn="l">
              <a:spcBef>
                <a:spcPts val="1189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g3ead7adb856_0_5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edb856b383_0_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3edb856b383_0_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g3edb856b383_0_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edb856b383_0_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edb856b383_0_4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g3edb856b383_0_4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ebd459c472_0_1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3ebd459c472_0_13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46"/>
              <a:t>После получения OCR-текста система определяет тип документа среди шести классов.</a:t>
            </a:r>
            <a:endParaRPr sz="1546"/>
          </a:p>
          <a:p>
            <a:pPr indent="0" lvl="0" marL="0" marR="0" rtl="0" algn="l">
              <a:lnSpc>
                <a:spcPct val="115000"/>
              </a:lnSpc>
              <a:spcBef>
                <a:spcPts val="1189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546"/>
          </a:p>
          <a:p>
            <a:pPr indent="0" lvl="0" marL="0" marR="0" rtl="0" algn="l">
              <a:lnSpc>
                <a:spcPct val="115000"/>
              </a:lnSpc>
              <a:spcBef>
                <a:spcPts val="1189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46"/>
              <a:t>Классификация выполняется гибридным способом:</a:t>
            </a:r>
            <a:endParaRPr sz="1546"/>
          </a:p>
          <a:p>
            <a:pPr indent="0" lvl="0" marL="0" marR="0" rtl="0" algn="l">
              <a:lnSpc>
                <a:spcPct val="115000"/>
              </a:lnSpc>
              <a:spcBef>
                <a:spcPts val="1189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46"/>
              <a:t>• поиск заголовков и характерных фраз;</a:t>
            </a:r>
            <a:endParaRPr sz="1546"/>
          </a:p>
          <a:p>
            <a:pPr indent="0" lvl="0" marL="0" marR="0" rtl="0" algn="l">
              <a:lnSpc>
                <a:spcPct val="115000"/>
              </a:lnSpc>
              <a:spcBef>
                <a:spcPts val="1189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46"/>
              <a:t>• сравнение OCR-текста с эталонным архивом;</a:t>
            </a:r>
            <a:endParaRPr sz="1546"/>
          </a:p>
          <a:p>
            <a:pPr indent="0" lvl="0" marL="0" marR="0" rtl="0" algn="l">
              <a:lnSpc>
                <a:spcPct val="115000"/>
              </a:lnSpc>
              <a:spcBef>
                <a:spcPts val="1189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46"/>
              <a:t>• расчет TF-IDF-сходства;</a:t>
            </a:r>
            <a:endParaRPr sz="1546"/>
          </a:p>
          <a:p>
            <a:pPr indent="0" lvl="0" marL="0" marR="0" rtl="0" algn="l">
              <a:lnSpc>
                <a:spcPct val="115000"/>
              </a:lnSpc>
              <a:spcBef>
                <a:spcPts val="1189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46"/>
              <a:t>• объединение rule-based и TF-IDF оценок.</a:t>
            </a:r>
            <a:endParaRPr sz="1546"/>
          </a:p>
          <a:p>
            <a:pPr indent="0" lvl="0" marL="0" marR="0" rtl="0" algn="l">
              <a:lnSpc>
                <a:spcPct val="115000"/>
              </a:lnSpc>
              <a:spcBef>
                <a:spcPts val="1189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546"/>
          </a:p>
          <a:p>
            <a:pPr indent="0" lvl="0" marL="0" marR="0" rtl="0" algn="l">
              <a:lnSpc>
                <a:spcPct val="115000"/>
              </a:lnSpc>
              <a:spcBef>
                <a:spcPts val="1189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46"/>
              <a:t>Результатом этапа является предсказанный тип документа и JSON с диагностической информацией: rule_scores, reference_scores и combined_scores.</a:t>
            </a:r>
            <a:endParaRPr sz="1546"/>
          </a:p>
          <a:p>
            <a:pPr indent="0" lvl="0" marL="0" marR="0" rtl="0" algn="l">
              <a:lnSpc>
                <a:spcPct val="115000"/>
              </a:lnSpc>
              <a:spcBef>
                <a:spcPts val="1189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546"/>
          </a:p>
          <a:p>
            <a:pPr indent="0" lvl="0" marL="0" rtl="0" algn="l">
              <a:spcBef>
                <a:spcPts val="1189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g3ebd459c472_0_13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edb856b383_0_5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3edb856b383_0_5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g3edb856b383_0_5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ebd459c472_0_26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3ebd459c472_0_26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g3ebd459c472_0_26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ebd459c472_0_20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3ebd459c472_0_20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46"/>
              <a:t>После определения типа документа запускается извлечение ключевых полей.</a:t>
            </a:r>
            <a:endParaRPr sz="1546"/>
          </a:p>
          <a:p>
            <a:pPr indent="0" lvl="0" marL="0" marR="0" rtl="0" algn="l">
              <a:lnSpc>
                <a:spcPct val="115000"/>
              </a:lnSpc>
              <a:spcBef>
                <a:spcPts val="1189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546"/>
          </a:p>
          <a:p>
            <a:pPr indent="0" lvl="0" marL="0" marR="0" rtl="0" algn="l">
              <a:lnSpc>
                <a:spcPct val="115000"/>
              </a:lnSpc>
              <a:spcBef>
                <a:spcPts val="1189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46"/>
              <a:t>Для каждого класса используется своя схема данных: суд, номер дела, стороны, даты, суммы, предмет спора и другие реквизиты.</a:t>
            </a:r>
            <a:endParaRPr sz="1546"/>
          </a:p>
          <a:p>
            <a:pPr indent="0" lvl="0" marL="0" marR="0" rtl="0" algn="l">
              <a:lnSpc>
                <a:spcPct val="115000"/>
              </a:lnSpc>
              <a:spcBef>
                <a:spcPts val="1189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546"/>
          </a:p>
          <a:p>
            <a:pPr indent="0" lvl="0" marL="0" marR="0" rtl="0" algn="l">
              <a:lnSpc>
                <a:spcPct val="115000"/>
              </a:lnSpc>
              <a:spcBef>
                <a:spcPts val="1189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46"/>
              <a:t>Этап включает:</a:t>
            </a:r>
            <a:endParaRPr sz="1546"/>
          </a:p>
          <a:p>
            <a:pPr indent="0" lvl="0" marL="0" marR="0" rtl="0" algn="l">
              <a:lnSpc>
                <a:spcPct val="115000"/>
              </a:lnSpc>
              <a:spcBef>
                <a:spcPts val="1189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46"/>
              <a:t>• первичное извлечение полей правилами и регулярными выражениями;</a:t>
            </a:r>
            <a:endParaRPr sz="1546"/>
          </a:p>
          <a:p>
            <a:pPr indent="0" lvl="0" marL="0" marR="0" rtl="0" algn="l">
              <a:lnSpc>
                <a:spcPct val="115000"/>
              </a:lnSpc>
              <a:spcBef>
                <a:spcPts val="1189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46"/>
              <a:t>• формирование предварительного JSON;</a:t>
            </a:r>
            <a:endParaRPr sz="1546"/>
          </a:p>
          <a:p>
            <a:pPr indent="0" lvl="0" marL="0" marR="0" rtl="0" algn="l">
              <a:lnSpc>
                <a:spcPct val="115000"/>
              </a:lnSpc>
              <a:spcBef>
                <a:spcPts val="1189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46"/>
              <a:t>• передачу OCR-текста, типа документа и найденных полей в LLM;</a:t>
            </a:r>
            <a:endParaRPr sz="1546"/>
          </a:p>
          <a:p>
            <a:pPr indent="0" lvl="0" marL="0" marR="0" rtl="0" algn="l">
              <a:lnSpc>
                <a:spcPct val="115000"/>
              </a:lnSpc>
              <a:spcBef>
                <a:spcPts val="1189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46"/>
              <a:t>• получение структурированного JSON;</a:t>
            </a:r>
            <a:endParaRPr sz="1546"/>
          </a:p>
          <a:p>
            <a:pPr indent="0" lvl="0" marL="0" marR="0" rtl="0" algn="l">
              <a:lnSpc>
                <a:spcPct val="115000"/>
              </a:lnSpc>
              <a:spcBef>
                <a:spcPts val="1189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46"/>
              <a:t>• преобразование результата в XML.</a:t>
            </a:r>
            <a:endParaRPr sz="1546"/>
          </a:p>
          <a:p>
            <a:pPr indent="0" lvl="0" marL="0" marR="0" rtl="0" algn="l">
              <a:lnSpc>
                <a:spcPct val="115000"/>
              </a:lnSpc>
              <a:spcBef>
                <a:spcPts val="1189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546"/>
          </a:p>
          <a:p>
            <a:pPr indent="0" lvl="0" marL="0" rtl="0" algn="l">
              <a:spcBef>
                <a:spcPts val="1189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g3ebd459c472_0_20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3ead7adb856_2_6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" name="Google Shape;276;g3ead7adb856_2_6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g3ead7adb856_2_6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edb856b383_0_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3edb856b383_0_2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g3edb856b383_0_2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0" name="Google Shape;300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/>
              <a:t>По эталонным полям система смогла извлечь почти все ключевые сведения: средний балл по ожидаемым полям составляет 93.0%. Основная ошибка в обязательной части — не заполнено поле «Суд / Судья».. При этом имеются и дополнительные поля, которых нет в эталоне: «НомерДокумента», блок «ТретьяСторона» и блок «ОбъектСпора».</a:t>
            </a:r>
            <a:endParaRPr sz="2400"/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/>
              <a:t>Данные результаты говорят о том, что система вполне жизнеспособна и может найти реальное применение при обработке юридических документов.</a:t>
            </a:r>
            <a:endParaRPr sz="24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3ebd459c472_0_3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6" name="Google Shape;316;g3ebd459c472_0_33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g3ebd459c472_0_33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3ebe9fb0557_0_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4" name="Google Shape;344;g3ebe9fb0557_0_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g3ebe9fb0557_0_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3ebd459c472_0_3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" name="Google Shape;357;g3ebd459c472_0_32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g3ebd459c472_0_32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3eae8eeb70d_2_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9" name="Google Shape;369;g3eae8eeb70d_2_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g3eae8eeb70d_2_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3ec2fd7449a_0_5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8" name="Google Shape;378;g3ec2fd7449a_0_5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9" name="Google Shape;379;g3ec2fd7449a_0_5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3ebd459c472_0_35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3" name="Google Shape;393;g3ebd459c472_0_35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g3ebd459c472_0_35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g3ec0a580663_0_5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0" name="Google Shape;400;g3ec0a580663_0_5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46"/>
              <a:t>После получения OCR-текста система определяет тип документа среди шести классов.</a:t>
            </a:r>
            <a:endParaRPr sz="1546"/>
          </a:p>
          <a:p>
            <a:pPr indent="0" lvl="0" marL="0" marR="0" rtl="0" algn="l">
              <a:lnSpc>
                <a:spcPct val="115000"/>
              </a:lnSpc>
              <a:spcBef>
                <a:spcPts val="1189"/>
              </a:spcBef>
              <a:spcAft>
                <a:spcPts val="0"/>
              </a:spcAft>
              <a:buNone/>
            </a:pPr>
            <a:r>
              <a:t/>
            </a:r>
            <a:endParaRPr sz="1546"/>
          </a:p>
          <a:p>
            <a:pPr indent="0" lvl="0" marL="0" marR="0" rtl="0" algn="l">
              <a:lnSpc>
                <a:spcPct val="115000"/>
              </a:lnSpc>
              <a:spcBef>
                <a:spcPts val="1189"/>
              </a:spcBef>
              <a:spcAft>
                <a:spcPts val="0"/>
              </a:spcAft>
              <a:buNone/>
            </a:pPr>
            <a:r>
              <a:rPr lang="en-US" sz="1546"/>
              <a:t>Классификация выполняется гибридным способом:</a:t>
            </a:r>
            <a:endParaRPr sz="1546"/>
          </a:p>
          <a:p>
            <a:pPr indent="0" lvl="0" marL="0" marR="0" rtl="0" algn="l">
              <a:lnSpc>
                <a:spcPct val="115000"/>
              </a:lnSpc>
              <a:spcBef>
                <a:spcPts val="1189"/>
              </a:spcBef>
              <a:spcAft>
                <a:spcPts val="0"/>
              </a:spcAft>
              <a:buNone/>
            </a:pPr>
            <a:r>
              <a:rPr lang="en-US" sz="1546"/>
              <a:t>• поиск заголовков и характерных фраз;</a:t>
            </a:r>
            <a:endParaRPr sz="1546"/>
          </a:p>
          <a:p>
            <a:pPr indent="0" lvl="0" marL="0" marR="0" rtl="0" algn="l">
              <a:lnSpc>
                <a:spcPct val="115000"/>
              </a:lnSpc>
              <a:spcBef>
                <a:spcPts val="1189"/>
              </a:spcBef>
              <a:spcAft>
                <a:spcPts val="0"/>
              </a:spcAft>
              <a:buNone/>
            </a:pPr>
            <a:r>
              <a:rPr lang="en-US" sz="1546"/>
              <a:t>• сравнение OCR-текста с эталонным архивом;</a:t>
            </a:r>
            <a:endParaRPr sz="1546"/>
          </a:p>
          <a:p>
            <a:pPr indent="0" lvl="0" marL="0" marR="0" rtl="0" algn="l">
              <a:lnSpc>
                <a:spcPct val="115000"/>
              </a:lnSpc>
              <a:spcBef>
                <a:spcPts val="1189"/>
              </a:spcBef>
              <a:spcAft>
                <a:spcPts val="0"/>
              </a:spcAft>
              <a:buNone/>
            </a:pPr>
            <a:r>
              <a:rPr lang="en-US" sz="1546"/>
              <a:t>• расчет TF-IDF-сходства;</a:t>
            </a:r>
            <a:endParaRPr sz="1546"/>
          </a:p>
          <a:p>
            <a:pPr indent="0" lvl="0" marL="0" marR="0" rtl="0" algn="l">
              <a:lnSpc>
                <a:spcPct val="115000"/>
              </a:lnSpc>
              <a:spcBef>
                <a:spcPts val="1189"/>
              </a:spcBef>
              <a:spcAft>
                <a:spcPts val="0"/>
              </a:spcAft>
              <a:buNone/>
            </a:pPr>
            <a:r>
              <a:rPr lang="en-US" sz="1546"/>
              <a:t>• объединение rule-based и TF-IDF оценок.</a:t>
            </a:r>
            <a:endParaRPr sz="1546"/>
          </a:p>
          <a:p>
            <a:pPr indent="0" lvl="0" marL="0" marR="0" rtl="0" algn="l">
              <a:lnSpc>
                <a:spcPct val="115000"/>
              </a:lnSpc>
              <a:spcBef>
                <a:spcPts val="1189"/>
              </a:spcBef>
              <a:spcAft>
                <a:spcPts val="0"/>
              </a:spcAft>
              <a:buNone/>
            </a:pPr>
            <a:r>
              <a:t/>
            </a:r>
            <a:endParaRPr sz="1546"/>
          </a:p>
          <a:p>
            <a:pPr indent="0" lvl="0" marL="0" marR="0" rtl="0" algn="l">
              <a:lnSpc>
                <a:spcPct val="115000"/>
              </a:lnSpc>
              <a:spcBef>
                <a:spcPts val="1189"/>
              </a:spcBef>
              <a:spcAft>
                <a:spcPts val="0"/>
              </a:spcAft>
              <a:buNone/>
            </a:pPr>
            <a:r>
              <a:rPr lang="en-US" sz="1546"/>
              <a:t>Результатом этапа является предсказанный тип документа и JSON с диагностической информацией: rule_scores, reference_scores и combined_scores.</a:t>
            </a:r>
            <a:endParaRPr sz="1546"/>
          </a:p>
          <a:p>
            <a:pPr indent="0" lvl="0" marL="0" marR="0" rtl="0" algn="l">
              <a:lnSpc>
                <a:spcPct val="115000"/>
              </a:lnSpc>
              <a:spcBef>
                <a:spcPts val="1189"/>
              </a:spcBef>
              <a:spcAft>
                <a:spcPts val="0"/>
              </a:spcAft>
              <a:buNone/>
            </a:pPr>
            <a:r>
              <a:t/>
            </a:r>
            <a:endParaRPr sz="1546"/>
          </a:p>
          <a:p>
            <a:pPr indent="0" lvl="0" marL="0" rtl="0" algn="l">
              <a:spcBef>
                <a:spcPts val="1189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g3ec0a580663_0_5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g3ebd459c472_0_16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5" name="Google Shape;425;g3ebd459c472_0_16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g3ebd459c472_0_16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g3ebd459c472_0_16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4" name="Google Shape;434;g3ebd459c472_0_16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g3ebd459c472_0_16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g3ebd459c472_0_18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3" name="Google Shape;443;g3ebd459c472_0_18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g3ebd459c472_0_18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g3ebd459c472_0_59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3" name="Google Shape;463;g3ebd459c472_0_59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g3ebd459c472_0_59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 слайд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Char char="●"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3"/>
          <p:cNvSpPr txBox="1"/>
          <p:nvPr>
            <p:ph idx="1" type="subTitle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3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Relationship Id="rId4" Type="http://schemas.openxmlformats.org/officeDocument/2006/relationships/image" Target="../media/image2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png"/><Relationship Id="rId4" Type="http://schemas.openxmlformats.org/officeDocument/2006/relationships/image" Target="../media/image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1.png"/><Relationship Id="rId4" Type="http://schemas.openxmlformats.org/officeDocument/2006/relationships/image" Target="../media/image1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7.png"/><Relationship Id="rId4" Type="http://schemas.openxmlformats.org/officeDocument/2006/relationships/image" Target="../media/image20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3.png"/><Relationship Id="rId4" Type="http://schemas.openxmlformats.org/officeDocument/2006/relationships/image" Target="../media/image24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6.png"/><Relationship Id="rId4" Type="http://schemas.openxmlformats.org/officeDocument/2006/relationships/image" Target="../media/image25.png"/><Relationship Id="rId5" Type="http://schemas.openxmlformats.org/officeDocument/2006/relationships/image" Target="../media/image14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6.png"/><Relationship Id="rId4" Type="http://schemas.openxmlformats.org/officeDocument/2006/relationships/image" Target="../media/image10.png"/><Relationship Id="rId5" Type="http://schemas.openxmlformats.org/officeDocument/2006/relationships/image" Target="../media/image9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2.png"/><Relationship Id="rId4" Type="http://schemas.openxmlformats.org/officeDocument/2006/relationships/image" Target="../media/image23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9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oogle Shape;2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3328" y="391588"/>
            <a:ext cx="1598972" cy="706791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4"/>
          <p:cNvSpPr txBox="1"/>
          <p:nvPr/>
        </p:nvSpPr>
        <p:spPr>
          <a:xfrm>
            <a:off x="514837" y="2791663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625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100000"/>
              <a:buFont typeface="Calibri"/>
              <a:buNone/>
            </a:pPr>
            <a:r>
              <a:rPr b="1" lang="en-US" sz="60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ПРИМЕНЕНИЕ МОДЕЛЕЙ НЕЙРОННЫХ СЕТЕЙ ДЛЯ РАСПОЗНАВАНИЯ ЮРИДИЧЕСКИХ ДОКУМЕНТОВ </a:t>
            </a:r>
            <a:endParaRPr b="1" i="0" sz="6000" u="none" cap="none" strike="noStrike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4"/>
          <p:cNvSpPr txBox="1"/>
          <p:nvPr/>
        </p:nvSpPr>
        <p:spPr>
          <a:xfrm>
            <a:off x="514837" y="356556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000"/>
              <a:buFont typeface="Calibri"/>
              <a:buNone/>
            </a:pPr>
            <a:r>
              <a:rPr lang="en-US" sz="40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Выпускная квалификационная работа</a:t>
            </a:r>
            <a:endParaRPr b="0" i="0" sz="4000" u="none" cap="none" strike="noStrike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4"/>
          <p:cNvSpPr txBox="1"/>
          <p:nvPr/>
        </p:nvSpPr>
        <p:spPr>
          <a:xfrm>
            <a:off x="514837" y="5327691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Calibri"/>
              <a:buNone/>
            </a:pPr>
            <a:r>
              <a:rPr lang="en-US" sz="20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20.06.2026</a:t>
            </a:r>
            <a:r>
              <a:rPr b="0" i="0" lang="en-US" sz="20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/ </a:t>
            </a:r>
            <a:r>
              <a:rPr lang="en-US" sz="20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Савенко О.С., Сидоренко Т.А.</a:t>
            </a:r>
            <a:r>
              <a:rPr b="0" i="0" lang="en-US" sz="20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2000" u="none" cap="none" strike="noStrike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/>
          <p:nvPr/>
        </p:nvSpPr>
        <p:spPr>
          <a:xfrm>
            <a:off x="594360" y="3"/>
            <a:ext cx="107898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Актуальность и проблема</a:t>
            </a:r>
            <a:endParaRPr b="0" i="0" sz="2400" u="none" cap="none" strike="noStrike">
              <a:solidFill>
                <a:srgbClr val="1E3A8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" name="Google Shape;31;p5"/>
          <p:cNvCxnSpPr/>
          <p:nvPr/>
        </p:nvCxnSpPr>
        <p:spPr>
          <a:xfrm>
            <a:off x="594360" y="468099"/>
            <a:ext cx="10927200" cy="0"/>
          </a:xfrm>
          <a:prstGeom prst="straightConnector1">
            <a:avLst/>
          </a:prstGeom>
          <a:noFill/>
          <a:ln cap="flat" cmpd="sng" w="15225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" name="Google Shape;32;p5"/>
          <p:cNvSpPr/>
          <p:nvPr/>
        </p:nvSpPr>
        <p:spPr>
          <a:xfrm>
            <a:off x="468450" y="1210063"/>
            <a:ext cx="5602200" cy="2112300"/>
          </a:xfrm>
          <a:prstGeom prst="roundRect">
            <a:avLst>
              <a:gd fmla="val 2254" name="adj"/>
            </a:avLst>
          </a:prstGeom>
          <a:solidFill>
            <a:srgbClr val="EFF6FF"/>
          </a:solidFill>
          <a:ln cap="flat" cmpd="sng" w="9525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5"/>
          <p:cNvSpPr/>
          <p:nvPr/>
        </p:nvSpPr>
        <p:spPr>
          <a:xfrm>
            <a:off x="626470" y="1318915"/>
            <a:ext cx="2743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1700"/>
              <a:buFont typeface="Arial"/>
              <a:buNone/>
            </a:pPr>
            <a:r>
              <a:rPr b="1" lang="en-US" sz="1700">
                <a:solidFill>
                  <a:srgbClr val="1E3A8A"/>
                </a:solidFill>
              </a:rPr>
              <a:t>Актуальность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5"/>
          <p:cNvSpPr/>
          <p:nvPr/>
        </p:nvSpPr>
        <p:spPr>
          <a:xfrm>
            <a:off x="645000" y="1527488"/>
            <a:ext cx="5249100" cy="204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-322580" lvl="0" marL="45720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480"/>
              <a:buChar char="●"/>
            </a:pPr>
            <a:r>
              <a:rPr lang="en-US" sz="1480">
                <a:solidFill>
                  <a:srgbClr val="1F2937"/>
                </a:solidFill>
              </a:rPr>
              <a:t>Потребность автоматизации обработки документов</a:t>
            </a:r>
            <a:endParaRPr sz="1480">
              <a:solidFill>
                <a:srgbClr val="1F2937"/>
              </a:solidFill>
            </a:endParaRPr>
          </a:p>
          <a:p>
            <a:pPr indent="-322580" lvl="0" marL="45720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480"/>
              <a:buChar char="●"/>
            </a:pPr>
            <a:r>
              <a:rPr lang="en-US" sz="1480">
                <a:solidFill>
                  <a:srgbClr val="1F2937"/>
                </a:solidFill>
              </a:rPr>
              <a:t>Структуризация документов</a:t>
            </a:r>
            <a:endParaRPr sz="1480">
              <a:solidFill>
                <a:srgbClr val="1F2937"/>
              </a:solidFill>
            </a:endParaRPr>
          </a:p>
          <a:p>
            <a:pPr indent="-322580" lvl="0" marL="45720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480"/>
              <a:buChar char="●"/>
            </a:pPr>
            <a:r>
              <a:rPr lang="en-US" sz="1480">
                <a:solidFill>
                  <a:srgbClr val="1F2937"/>
                </a:solidFill>
              </a:rPr>
              <a:t>Документы приходят в формате, который трудно структурировать</a:t>
            </a:r>
            <a:endParaRPr sz="1480">
              <a:solidFill>
                <a:srgbClr val="1F2937"/>
              </a:solidFill>
            </a:endParaRPr>
          </a:p>
          <a:p>
            <a:pPr indent="-322580" lvl="0" marL="45720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480"/>
              <a:buChar char="●"/>
            </a:pPr>
            <a:r>
              <a:rPr lang="en-US" sz="1480">
                <a:solidFill>
                  <a:srgbClr val="1F2937"/>
                </a:solidFill>
              </a:rPr>
              <a:t>Научная литература о такой проблеме, в других областях</a:t>
            </a:r>
            <a:endParaRPr sz="1480">
              <a:solidFill>
                <a:srgbClr val="1F2937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80">
              <a:solidFill>
                <a:srgbClr val="1F2937"/>
              </a:solidFill>
            </a:endParaRPr>
          </a:p>
        </p:txBody>
      </p:sp>
      <p:sp>
        <p:nvSpPr>
          <p:cNvPr id="35" name="Google Shape;35;p5"/>
          <p:cNvSpPr/>
          <p:nvPr/>
        </p:nvSpPr>
        <p:spPr>
          <a:xfrm>
            <a:off x="468450" y="3926300"/>
            <a:ext cx="5602200" cy="2048400"/>
          </a:xfrm>
          <a:prstGeom prst="roundRect">
            <a:avLst>
              <a:gd fmla="val 2254" name="adj"/>
            </a:avLst>
          </a:prstGeom>
          <a:solidFill>
            <a:srgbClr val="EFF6FF"/>
          </a:solidFill>
          <a:ln cap="flat" cmpd="sng" w="9525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5"/>
          <p:cNvSpPr/>
          <p:nvPr/>
        </p:nvSpPr>
        <p:spPr>
          <a:xfrm>
            <a:off x="571835" y="4054253"/>
            <a:ext cx="2743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1700"/>
              <a:buFont typeface="Arial"/>
              <a:buNone/>
            </a:pPr>
            <a:r>
              <a:rPr b="1" lang="en-US" sz="1700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Проблема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5"/>
          <p:cNvSpPr/>
          <p:nvPr/>
        </p:nvSpPr>
        <p:spPr>
          <a:xfrm>
            <a:off x="617700" y="4374350"/>
            <a:ext cx="5303700" cy="154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-322580" lvl="0" marL="4572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80"/>
              <a:buFont typeface="Arial"/>
              <a:buChar char="●"/>
            </a:pPr>
            <a:r>
              <a:rPr lang="en-US" sz="1480">
                <a:solidFill>
                  <a:srgbClr val="1F2937"/>
                </a:solidFill>
              </a:rPr>
              <a:t>Ручное чтение сканов и перенос информации в информационную систему</a:t>
            </a:r>
            <a:endParaRPr sz="1480">
              <a:solidFill>
                <a:srgbClr val="1F2937"/>
              </a:solidFill>
            </a:endParaRPr>
          </a:p>
          <a:p>
            <a:pPr indent="-322580" lvl="0" marL="457200" marR="0" rtl="0" algn="just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480"/>
              <a:buChar char="●"/>
            </a:pPr>
            <a:r>
              <a:rPr lang="en-US" sz="1480">
                <a:solidFill>
                  <a:srgbClr val="1F2937"/>
                </a:solidFill>
              </a:rPr>
              <a:t>Большой поток документов увеличивает трудозатраты и риск</a:t>
            </a:r>
            <a:endParaRPr sz="1480">
              <a:solidFill>
                <a:srgbClr val="1F2937"/>
              </a:solidFill>
            </a:endParaRPr>
          </a:p>
        </p:txBody>
      </p:sp>
      <p:pic>
        <p:nvPicPr>
          <p:cNvPr id="38" name="Google Shape;38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37250" y="524603"/>
            <a:ext cx="5426667" cy="6141598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"/>
          <p:cNvSpPr txBox="1"/>
          <p:nvPr/>
        </p:nvSpPr>
        <p:spPr>
          <a:xfrm>
            <a:off x="11823475" y="6457800"/>
            <a:ext cx="368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6"/>
          <p:cNvSpPr/>
          <p:nvPr/>
        </p:nvSpPr>
        <p:spPr>
          <a:xfrm>
            <a:off x="594360" y="338328"/>
            <a:ext cx="107898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Цель </a:t>
            </a:r>
            <a:r>
              <a:rPr b="1" lang="en-US" sz="2400">
                <a:solidFill>
                  <a:srgbClr val="1E3A8A"/>
                </a:solidFill>
              </a:rPr>
              <a:t>и задачи работы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6" name="Google Shape;46;p6"/>
          <p:cNvCxnSpPr/>
          <p:nvPr/>
        </p:nvCxnSpPr>
        <p:spPr>
          <a:xfrm>
            <a:off x="594360" y="877824"/>
            <a:ext cx="10927200" cy="0"/>
          </a:xfrm>
          <a:prstGeom prst="straightConnector1">
            <a:avLst/>
          </a:prstGeom>
          <a:noFill/>
          <a:ln cap="flat" cmpd="sng" w="15225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47" name="Google Shape;47;p6"/>
          <p:cNvGrpSpPr/>
          <p:nvPr/>
        </p:nvGrpSpPr>
        <p:grpSpPr>
          <a:xfrm>
            <a:off x="731520" y="1371600"/>
            <a:ext cx="10698600" cy="1051500"/>
            <a:chOff x="731520" y="1371600"/>
            <a:chExt cx="10698600" cy="1051500"/>
          </a:xfrm>
        </p:grpSpPr>
        <p:sp>
          <p:nvSpPr>
            <p:cNvPr id="48" name="Google Shape;48;p6"/>
            <p:cNvSpPr/>
            <p:nvPr/>
          </p:nvSpPr>
          <p:spPr>
            <a:xfrm>
              <a:off x="731520" y="1371600"/>
              <a:ext cx="10698600" cy="1051500"/>
            </a:xfrm>
            <a:prstGeom prst="roundRect">
              <a:avLst>
                <a:gd fmla="val 6957" name="adj"/>
              </a:avLst>
            </a:prstGeom>
            <a:solidFill>
              <a:srgbClr val="EFF6FF"/>
            </a:solidFill>
            <a:ln cap="flat" cmpd="sng" w="10150">
              <a:solidFill>
                <a:srgbClr val="2563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" name="Google Shape;49;p6"/>
            <p:cNvSpPr/>
            <p:nvPr/>
          </p:nvSpPr>
          <p:spPr>
            <a:xfrm>
              <a:off x="900065" y="1453244"/>
              <a:ext cx="2011800" cy="25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E3A8A"/>
                </a:buClr>
                <a:buSzPts val="1500"/>
                <a:buFont typeface="Arial"/>
                <a:buNone/>
              </a:pPr>
              <a:r>
                <a:rPr b="1" lang="en-US" sz="1500">
                  <a:solidFill>
                    <a:srgbClr val="1E3A8A"/>
                  </a:solidFill>
                  <a:latin typeface="Arial"/>
                  <a:ea typeface="Arial"/>
                  <a:cs typeface="Arial"/>
                  <a:sym typeface="Arial"/>
                </a:rPr>
                <a:t>Цель работы</a:t>
              </a:r>
              <a:endParaRPr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" name="Google Shape;50;p6"/>
            <p:cNvSpPr/>
            <p:nvPr/>
          </p:nvSpPr>
          <p:spPr>
            <a:xfrm>
              <a:off x="900075" y="1709152"/>
              <a:ext cx="8138100" cy="63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0" lIns="250" spcFirstLastPara="1" rIns="250" wrap="square" tIns="2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F2937"/>
                </a:buClr>
                <a:buSzPts val="1420"/>
                <a:buFont typeface="Arial"/>
                <a:buNone/>
              </a:pPr>
              <a:r>
                <a:rPr lang="en-US">
                  <a:solidFill>
                    <a:schemeClr val="dk1"/>
                  </a:solidFill>
                </a:rPr>
                <a:t>Исследовать модели нейронных сетей для автоматизированного распознавания и обработки  юридических документов</a:t>
              </a:r>
              <a:endParaRPr>
                <a:solidFill>
                  <a:schemeClr val="dk1"/>
                </a:solidFill>
              </a:endParaRPr>
            </a:p>
          </p:txBody>
        </p:sp>
      </p:grpSp>
      <p:grpSp>
        <p:nvGrpSpPr>
          <p:cNvPr id="51" name="Google Shape;51;p6"/>
          <p:cNvGrpSpPr/>
          <p:nvPr/>
        </p:nvGrpSpPr>
        <p:grpSpPr>
          <a:xfrm>
            <a:off x="798555" y="3044784"/>
            <a:ext cx="10790052" cy="2777289"/>
            <a:chOff x="868680" y="1214834"/>
            <a:chExt cx="10790052" cy="2777289"/>
          </a:xfrm>
        </p:grpSpPr>
        <p:sp>
          <p:nvSpPr>
            <p:cNvPr id="52" name="Google Shape;52;p6"/>
            <p:cNvSpPr/>
            <p:nvPr/>
          </p:nvSpPr>
          <p:spPr>
            <a:xfrm>
              <a:off x="868680" y="1348751"/>
              <a:ext cx="402300" cy="310800"/>
            </a:xfrm>
            <a:prstGeom prst="roundRect">
              <a:avLst>
                <a:gd fmla="val 17647" name="adj"/>
              </a:avLst>
            </a:prstGeom>
            <a:solidFill>
              <a:srgbClr val="EFF6FF"/>
            </a:solidFill>
            <a:ln cap="flat" cmpd="sng" w="9525">
              <a:solidFill>
                <a:srgbClr val="2563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6"/>
            <p:cNvSpPr/>
            <p:nvPr/>
          </p:nvSpPr>
          <p:spPr>
            <a:xfrm>
              <a:off x="886968" y="1408187"/>
              <a:ext cx="365700" cy="13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1E3A8A"/>
                </a:buClr>
                <a:buSzPts val="1050"/>
                <a:buFont typeface="Arial"/>
                <a:buNone/>
              </a:pPr>
              <a:r>
                <a:rPr b="1" lang="en-US" sz="1050">
                  <a:solidFill>
                    <a:srgbClr val="1E3A8A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sz="10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" name="Google Shape;54;p6"/>
            <p:cNvSpPr/>
            <p:nvPr/>
          </p:nvSpPr>
          <p:spPr>
            <a:xfrm>
              <a:off x="1399032" y="1214834"/>
              <a:ext cx="10259700" cy="68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0" lIns="250" spcFirstLastPara="1" rIns="250" wrap="square" tIns="25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1440">
                  <a:solidFill>
                    <a:srgbClr val="1F2937"/>
                  </a:solidFill>
                </a:rPr>
                <a:t>Провести анализ применяемых моделей нейронных сетей для задач распознавания, классификации и извлечения структурированной информации.</a:t>
              </a:r>
              <a:endParaRPr sz="1440">
                <a:solidFill>
                  <a:srgbClr val="1F2937"/>
                </a:solidFill>
              </a:endParaRPr>
            </a:p>
          </p:txBody>
        </p:sp>
        <p:sp>
          <p:nvSpPr>
            <p:cNvPr id="55" name="Google Shape;55;p6"/>
            <p:cNvSpPr/>
            <p:nvPr/>
          </p:nvSpPr>
          <p:spPr>
            <a:xfrm>
              <a:off x="868680" y="2107039"/>
              <a:ext cx="402300" cy="310800"/>
            </a:xfrm>
            <a:prstGeom prst="roundRect">
              <a:avLst>
                <a:gd fmla="val 17647" name="adj"/>
              </a:avLst>
            </a:prstGeom>
            <a:solidFill>
              <a:srgbClr val="EFF6FF"/>
            </a:solidFill>
            <a:ln cap="flat" cmpd="sng" w="9525">
              <a:solidFill>
                <a:srgbClr val="2563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6"/>
            <p:cNvSpPr/>
            <p:nvPr/>
          </p:nvSpPr>
          <p:spPr>
            <a:xfrm>
              <a:off x="886968" y="2166475"/>
              <a:ext cx="365700" cy="13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1E3A8A"/>
                </a:buClr>
                <a:buSzPts val="1050"/>
                <a:buFont typeface="Arial"/>
                <a:buNone/>
              </a:pPr>
              <a:r>
                <a:rPr b="1" lang="en-US" sz="1050">
                  <a:solidFill>
                    <a:srgbClr val="1E3A8A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sz="10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" name="Google Shape;57;p6"/>
            <p:cNvSpPr/>
            <p:nvPr/>
          </p:nvSpPr>
          <p:spPr>
            <a:xfrm>
              <a:off x="1399032" y="1913697"/>
              <a:ext cx="10259700" cy="68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0" lIns="250" spcFirstLastPara="1" rIns="250" wrap="square" tIns="2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F2937"/>
                </a:buClr>
                <a:buSzPts val="1340"/>
                <a:buFont typeface="Arial"/>
                <a:buNone/>
              </a:pPr>
              <a:r>
                <a:rPr lang="en-US" sz="1440">
                  <a:solidFill>
                    <a:srgbClr val="1F2937"/>
                  </a:solidFill>
                </a:rPr>
                <a:t>Сформировать корпус юридических документов</a:t>
              </a:r>
              <a:endParaRPr sz="144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" name="Google Shape;58;p6"/>
            <p:cNvSpPr/>
            <p:nvPr/>
          </p:nvSpPr>
          <p:spPr>
            <a:xfrm>
              <a:off x="868680" y="2805902"/>
              <a:ext cx="402300" cy="310800"/>
            </a:xfrm>
            <a:prstGeom prst="roundRect">
              <a:avLst>
                <a:gd fmla="val 17647" name="adj"/>
              </a:avLst>
            </a:prstGeom>
            <a:solidFill>
              <a:srgbClr val="EFF6FF"/>
            </a:solidFill>
            <a:ln cap="flat" cmpd="sng" w="9525">
              <a:solidFill>
                <a:srgbClr val="2563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>
              <a:off x="886968" y="2865338"/>
              <a:ext cx="365700" cy="13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1E3A8A"/>
                </a:buClr>
                <a:buSzPts val="1050"/>
                <a:buFont typeface="Arial"/>
                <a:buNone/>
              </a:pPr>
              <a:r>
                <a:rPr b="1" lang="en-US" sz="1050">
                  <a:solidFill>
                    <a:srgbClr val="1E3A8A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sz="10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" name="Google Shape;60;p6"/>
            <p:cNvSpPr/>
            <p:nvPr/>
          </p:nvSpPr>
          <p:spPr>
            <a:xfrm>
              <a:off x="1399032" y="2612560"/>
              <a:ext cx="10259700" cy="68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0" lIns="250" spcFirstLastPara="1" rIns="250" wrap="square" tIns="2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F2937"/>
                </a:buClr>
                <a:buSzPts val="1340"/>
                <a:buFont typeface="Arial"/>
                <a:buNone/>
              </a:pPr>
              <a:r>
                <a:rPr lang="en-US" sz="1440">
                  <a:solidFill>
                    <a:srgbClr val="1F2937"/>
                  </a:solidFill>
                </a:rPr>
                <a:t>Разработать программный конвейер автоматизированной обработки юридических документов</a:t>
              </a:r>
              <a:endParaRPr sz="144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" name="Google Shape;61;p6"/>
            <p:cNvSpPr/>
            <p:nvPr/>
          </p:nvSpPr>
          <p:spPr>
            <a:xfrm>
              <a:off x="868680" y="3504765"/>
              <a:ext cx="402300" cy="310800"/>
            </a:xfrm>
            <a:prstGeom prst="roundRect">
              <a:avLst>
                <a:gd fmla="val 17647" name="adj"/>
              </a:avLst>
            </a:prstGeom>
            <a:solidFill>
              <a:srgbClr val="EFF6FF"/>
            </a:solidFill>
            <a:ln cap="flat" cmpd="sng" w="9525">
              <a:solidFill>
                <a:srgbClr val="2563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" name="Google Shape;62;p6"/>
            <p:cNvSpPr/>
            <p:nvPr/>
          </p:nvSpPr>
          <p:spPr>
            <a:xfrm>
              <a:off x="886968" y="3564201"/>
              <a:ext cx="365700" cy="13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1E3A8A"/>
                </a:buClr>
                <a:buSzPts val="1050"/>
                <a:buFont typeface="Arial"/>
                <a:buNone/>
              </a:pPr>
              <a:r>
                <a:rPr b="1" lang="en-US" sz="1050">
                  <a:solidFill>
                    <a:srgbClr val="1E3A8A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sz="10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" name="Google Shape;63;p6"/>
            <p:cNvSpPr/>
            <p:nvPr/>
          </p:nvSpPr>
          <p:spPr>
            <a:xfrm>
              <a:off x="1399032" y="3311423"/>
              <a:ext cx="10259700" cy="68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0" lIns="250" spcFirstLastPara="1" rIns="250" wrap="square" tIns="2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F2937"/>
                </a:buClr>
                <a:buSzPts val="1340"/>
                <a:buFont typeface="Arial"/>
                <a:buNone/>
              </a:pPr>
              <a:r>
                <a:rPr lang="en-US" sz="1440">
                  <a:solidFill>
                    <a:srgbClr val="1F2937"/>
                  </a:solidFill>
                </a:rPr>
                <a:t>Провести экспериментальное исследование и оценку качества разработанного решения</a:t>
              </a:r>
              <a:endParaRPr sz="144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4" name="Google Shape;64;p6"/>
          <p:cNvSpPr txBox="1"/>
          <p:nvPr/>
        </p:nvSpPr>
        <p:spPr>
          <a:xfrm>
            <a:off x="11823475" y="6457800"/>
            <a:ext cx="368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</a:t>
            </a:r>
            <a:endParaRPr/>
          </a:p>
        </p:txBody>
      </p:sp>
      <p:sp>
        <p:nvSpPr>
          <p:cNvPr id="65" name="Google Shape;65;p6"/>
          <p:cNvSpPr/>
          <p:nvPr/>
        </p:nvSpPr>
        <p:spPr>
          <a:xfrm>
            <a:off x="798540" y="2718044"/>
            <a:ext cx="2011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1E3A8A"/>
                </a:solidFill>
              </a:rPr>
              <a:t>Задачи </a:t>
            </a:r>
            <a:r>
              <a:rPr b="1" lang="en-US" sz="1500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работы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7"/>
          <p:cNvSpPr/>
          <p:nvPr/>
        </p:nvSpPr>
        <p:spPr>
          <a:xfrm>
            <a:off x="594360" y="338328"/>
            <a:ext cx="10789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1E3A8A"/>
                </a:solidFill>
              </a:rPr>
              <a:t>Объект, предмет и научная новизна работы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2" name="Google Shape;72;p7"/>
          <p:cNvCxnSpPr/>
          <p:nvPr/>
        </p:nvCxnSpPr>
        <p:spPr>
          <a:xfrm>
            <a:off x="594360" y="877824"/>
            <a:ext cx="10927080" cy="0"/>
          </a:xfrm>
          <a:prstGeom prst="straightConnector1">
            <a:avLst/>
          </a:prstGeom>
          <a:noFill/>
          <a:ln cap="flat" cmpd="sng" w="15225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3" name="Google Shape;73;p7"/>
          <p:cNvCxnSpPr/>
          <p:nvPr/>
        </p:nvCxnSpPr>
        <p:spPr>
          <a:xfrm>
            <a:off x="502920" y="6446520"/>
            <a:ext cx="11201400" cy="0"/>
          </a:xfrm>
          <a:prstGeom prst="straightConnector1">
            <a:avLst/>
          </a:prstGeom>
          <a:noFill/>
          <a:ln cap="flat" cmpd="sng" w="1015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4" name="Google Shape;74;p7"/>
          <p:cNvSpPr/>
          <p:nvPr/>
        </p:nvSpPr>
        <p:spPr>
          <a:xfrm>
            <a:off x="594350" y="1112077"/>
            <a:ext cx="5235000" cy="1561200"/>
          </a:xfrm>
          <a:prstGeom prst="roundRect">
            <a:avLst>
              <a:gd fmla="val 5634" name="adj"/>
            </a:avLst>
          </a:prstGeom>
          <a:solidFill>
            <a:srgbClr val="FFFFFF"/>
          </a:solidFill>
          <a:ln cap="flat" cmpd="sng" w="9525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7"/>
          <p:cNvSpPr/>
          <p:nvPr/>
        </p:nvSpPr>
        <p:spPr>
          <a:xfrm>
            <a:off x="758942" y="1208680"/>
            <a:ext cx="4905900" cy="28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Объект исследования</a:t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7"/>
          <p:cNvSpPr/>
          <p:nvPr/>
        </p:nvSpPr>
        <p:spPr>
          <a:xfrm>
            <a:off x="758942" y="1639860"/>
            <a:ext cx="4905900" cy="93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50">
                <a:solidFill>
                  <a:srgbClr val="1F2937"/>
                </a:solidFill>
              </a:rPr>
              <a:t>Юридические документы, представленные в виде цифровых копий (сканированных документов в PDF формате), содержащих текстовую и графическую информацию.</a:t>
            </a:r>
            <a:endParaRPr sz="1250">
              <a:solidFill>
                <a:srgbClr val="1F2937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50"/>
              <a:buFont typeface="Arial"/>
              <a:buNone/>
            </a:pPr>
            <a:r>
              <a:t/>
            </a:r>
            <a:endParaRPr sz="1250">
              <a:solidFill>
                <a:srgbClr val="1F2937"/>
              </a:solidFill>
            </a:endParaRPr>
          </a:p>
        </p:txBody>
      </p:sp>
      <p:sp>
        <p:nvSpPr>
          <p:cNvPr id="77" name="Google Shape;77;p7"/>
          <p:cNvSpPr/>
          <p:nvPr/>
        </p:nvSpPr>
        <p:spPr>
          <a:xfrm>
            <a:off x="6076125" y="1101726"/>
            <a:ext cx="5235000" cy="1581900"/>
          </a:xfrm>
          <a:prstGeom prst="roundRect">
            <a:avLst>
              <a:gd fmla="val 5634" name="adj"/>
            </a:avLst>
          </a:prstGeom>
          <a:solidFill>
            <a:srgbClr val="FFFFFF"/>
          </a:solidFill>
          <a:ln cap="flat" cmpd="sng" w="9525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7"/>
          <p:cNvSpPr/>
          <p:nvPr/>
        </p:nvSpPr>
        <p:spPr>
          <a:xfrm>
            <a:off x="6240727" y="1242930"/>
            <a:ext cx="49059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Предмет исследования</a:t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7"/>
          <p:cNvSpPr/>
          <p:nvPr/>
        </p:nvSpPr>
        <p:spPr>
          <a:xfrm>
            <a:off x="6240725" y="1540625"/>
            <a:ext cx="5235000" cy="102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4572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50">
                <a:solidFill>
                  <a:srgbClr val="1F2937"/>
                </a:solidFill>
              </a:rPr>
              <a:t>Методы оптического распознавания текста, алгоритмы классификации документов по текстовому содержанию и методы извлечения ключевых полей из OCR-текста с последующей структуризацией результата.</a:t>
            </a:r>
            <a:endParaRPr sz="1250">
              <a:solidFill>
                <a:srgbClr val="1F2937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50"/>
              <a:buFont typeface="Arial"/>
              <a:buNone/>
            </a:pPr>
            <a:r>
              <a:t/>
            </a:r>
            <a:endParaRPr sz="1250">
              <a:solidFill>
                <a:srgbClr val="1F2937"/>
              </a:solidFill>
            </a:endParaRPr>
          </a:p>
        </p:txBody>
      </p:sp>
      <p:sp>
        <p:nvSpPr>
          <p:cNvPr id="80" name="Google Shape;80;p7"/>
          <p:cNvSpPr/>
          <p:nvPr/>
        </p:nvSpPr>
        <p:spPr>
          <a:xfrm>
            <a:off x="594350" y="2907525"/>
            <a:ext cx="10881300" cy="3394500"/>
          </a:xfrm>
          <a:prstGeom prst="roundRect">
            <a:avLst>
              <a:gd fmla="val 5634" name="adj"/>
            </a:avLst>
          </a:prstGeom>
          <a:solidFill>
            <a:srgbClr val="F3F4F6"/>
          </a:solidFill>
          <a:ln cap="flat" cmpd="sng" w="9525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7"/>
          <p:cNvSpPr/>
          <p:nvPr/>
        </p:nvSpPr>
        <p:spPr>
          <a:xfrm>
            <a:off x="758900" y="3087976"/>
            <a:ext cx="5562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1350"/>
              <a:buFont typeface="Arial"/>
              <a:buNone/>
            </a:pPr>
            <a:r>
              <a:rPr b="1" lang="en-US" sz="1750">
                <a:solidFill>
                  <a:srgbClr val="1E3A8A"/>
                </a:solidFill>
              </a:rPr>
              <a:t>Научная новизна</a:t>
            </a:r>
            <a:endParaRPr sz="17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7"/>
          <p:cNvSpPr/>
          <p:nvPr/>
        </p:nvSpPr>
        <p:spPr>
          <a:xfrm>
            <a:off x="699500" y="3511925"/>
            <a:ext cx="10684800" cy="258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50">
                <a:solidFill>
                  <a:srgbClr val="1F2937"/>
                </a:solidFill>
              </a:rPr>
              <a:t>• Предложен трехэтапный конвейер обработки сканированных юридических PDF при малом эталонном корпусе;</a:t>
            </a:r>
            <a:endParaRPr sz="1450">
              <a:solidFill>
                <a:srgbClr val="1F2937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50">
                <a:solidFill>
                  <a:srgbClr val="1F2937"/>
                </a:solidFill>
              </a:rPr>
              <a:t>• Обосновано сочетание разных подходов к обработке документа, при котором каждый этап решает отдельную задачу: получение текста, определение типа документа и извлечение ключевых данных;</a:t>
            </a:r>
            <a:endParaRPr sz="1450">
              <a:solidFill>
                <a:srgbClr val="1F2937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50">
                <a:solidFill>
                  <a:srgbClr val="1F2937"/>
                </a:solidFill>
              </a:rPr>
              <a:t>• Разработан гибридный подход к структурированию юридических документов, позволяющий учитывать как формальные реквизиты, так и смысловой контекст документа;</a:t>
            </a:r>
            <a:endParaRPr sz="1450">
              <a:solidFill>
                <a:srgbClr val="1F2937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50">
                <a:solidFill>
                  <a:srgbClr val="1F2937"/>
                </a:solidFill>
              </a:rPr>
              <a:t>• Результат обработки представлен в виде структурированного XML, пригодного для дальнейшего использования в информационных системах.</a:t>
            </a:r>
            <a:endParaRPr sz="1450">
              <a:solidFill>
                <a:srgbClr val="1F2937"/>
              </a:solidFill>
            </a:endParaRPr>
          </a:p>
        </p:txBody>
      </p:sp>
      <p:sp>
        <p:nvSpPr>
          <p:cNvPr id="83" name="Google Shape;83;p7"/>
          <p:cNvSpPr txBox="1"/>
          <p:nvPr/>
        </p:nvSpPr>
        <p:spPr>
          <a:xfrm>
            <a:off x="11823475" y="6457800"/>
            <a:ext cx="368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8"/>
          <p:cNvSpPr/>
          <p:nvPr/>
        </p:nvSpPr>
        <p:spPr>
          <a:xfrm>
            <a:off x="690950" y="1169950"/>
            <a:ext cx="10927200" cy="1006200"/>
          </a:xfrm>
          <a:prstGeom prst="roundRect">
            <a:avLst>
              <a:gd fmla="val 2254" name="adj"/>
            </a:avLst>
          </a:prstGeom>
          <a:solidFill>
            <a:srgbClr val="EFF6FF"/>
          </a:solidFill>
          <a:ln cap="flat" cmpd="sng" w="9525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8"/>
          <p:cNvSpPr/>
          <p:nvPr/>
        </p:nvSpPr>
        <p:spPr>
          <a:xfrm>
            <a:off x="594360" y="338328"/>
            <a:ext cx="107898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1E3A8A"/>
                </a:solidFill>
              </a:rPr>
              <a:t>Проблема и пути решения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1" name="Google Shape;91;p8"/>
          <p:cNvCxnSpPr/>
          <p:nvPr/>
        </p:nvCxnSpPr>
        <p:spPr>
          <a:xfrm>
            <a:off x="594360" y="877824"/>
            <a:ext cx="10927200" cy="0"/>
          </a:xfrm>
          <a:prstGeom prst="straightConnector1">
            <a:avLst/>
          </a:prstGeom>
          <a:noFill/>
          <a:ln cap="flat" cmpd="sng" w="15225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2" name="Google Shape;92;p8"/>
          <p:cNvSpPr/>
          <p:nvPr/>
        </p:nvSpPr>
        <p:spPr>
          <a:xfrm>
            <a:off x="690950" y="2338402"/>
            <a:ext cx="10927200" cy="1006200"/>
          </a:xfrm>
          <a:prstGeom prst="roundRect">
            <a:avLst>
              <a:gd fmla="val 2254" name="adj"/>
            </a:avLst>
          </a:prstGeom>
          <a:solidFill>
            <a:srgbClr val="EFF6FF"/>
          </a:solidFill>
          <a:ln cap="flat" cmpd="sng" w="9525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8"/>
          <p:cNvSpPr/>
          <p:nvPr/>
        </p:nvSpPr>
        <p:spPr>
          <a:xfrm>
            <a:off x="861595" y="2376353"/>
            <a:ext cx="2743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1700"/>
              <a:buFont typeface="Arial"/>
              <a:buNone/>
            </a:pPr>
            <a:r>
              <a:rPr b="1" lang="en-US" sz="1700">
                <a:solidFill>
                  <a:srgbClr val="1E3A8A"/>
                </a:solidFill>
              </a:rPr>
              <a:t>Проблема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8"/>
          <p:cNvSpPr/>
          <p:nvPr/>
        </p:nvSpPr>
        <p:spPr>
          <a:xfrm>
            <a:off x="860350" y="2596175"/>
            <a:ext cx="10512300" cy="56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80">
                <a:solidFill>
                  <a:srgbClr val="1F2937"/>
                </a:solidFill>
              </a:rPr>
              <a:t>Ручной труд при внесении данных в информационную систему </a:t>
            </a:r>
            <a:endParaRPr sz="14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8"/>
          <p:cNvSpPr/>
          <p:nvPr/>
        </p:nvSpPr>
        <p:spPr>
          <a:xfrm>
            <a:off x="690950" y="3515852"/>
            <a:ext cx="10927200" cy="1006200"/>
          </a:xfrm>
          <a:prstGeom prst="roundRect">
            <a:avLst>
              <a:gd fmla="val 2254" name="adj"/>
            </a:avLst>
          </a:prstGeom>
          <a:solidFill>
            <a:srgbClr val="EFF6FF"/>
          </a:solidFill>
          <a:ln cap="flat" cmpd="sng" w="9525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8"/>
          <p:cNvSpPr/>
          <p:nvPr/>
        </p:nvSpPr>
        <p:spPr>
          <a:xfrm>
            <a:off x="861595" y="3569853"/>
            <a:ext cx="2743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1700"/>
              <a:buFont typeface="Arial"/>
              <a:buNone/>
            </a:pPr>
            <a:r>
              <a:rPr b="1" lang="en-US" sz="1700">
                <a:solidFill>
                  <a:srgbClr val="1E3A8A"/>
                </a:solidFill>
              </a:rPr>
              <a:t>Важность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8"/>
          <p:cNvSpPr/>
          <p:nvPr/>
        </p:nvSpPr>
        <p:spPr>
          <a:xfrm>
            <a:off x="860350" y="3831425"/>
            <a:ext cx="10512300" cy="56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80">
                <a:solidFill>
                  <a:srgbClr val="1F2937"/>
                </a:solidFill>
              </a:rPr>
              <a:t>300-400 документов в месяц которые надо прочитать и внести из них данные в ИС</a:t>
            </a:r>
            <a:endParaRPr sz="14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8"/>
          <p:cNvSpPr/>
          <p:nvPr/>
        </p:nvSpPr>
        <p:spPr>
          <a:xfrm>
            <a:off x="690950" y="4693300"/>
            <a:ext cx="10927200" cy="1512900"/>
          </a:xfrm>
          <a:prstGeom prst="roundRect">
            <a:avLst>
              <a:gd fmla="val 2254" name="adj"/>
            </a:avLst>
          </a:prstGeom>
          <a:solidFill>
            <a:srgbClr val="EFF6FF"/>
          </a:solidFill>
          <a:ln cap="flat" cmpd="sng" w="9525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8"/>
          <p:cNvSpPr/>
          <p:nvPr/>
        </p:nvSpPr>
        <p:spPr>
          <a:xfrm>
            <a:off x="861595" y="4756303"/>
            <a:ext cx="2743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1700"/>
              <a:buFont typeface="Arial"/>
              <a:buNone/>
            </a:pPr>
            <a:r>
              <a:rPr b="1" lang="en-US" sz="1700">
                <a:solidFill>
                  <a:srgbClr val="1E3A8A"/>
                </a:solidFill>
              </a:rPr>
              <a:t>Пути решения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8"/>
          <p:cNvSpPr/>
          <p:nvPr/>
        </p:nvSpPr>
        <p:spPr>
          <a:xfrm>
            <a:off x="860350" y="5097550"/>
            <a:ext cx="10512300" cy="116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80">
                <a:solidFill>
                  <a:srgbClr val="1F2937"/>
                </a:solidFill>
              </a:rPr>
              <a:t>Создать инструмент который позволял бы осуществлять:</a:t>
            </a:r>
            <a:endParaRPr sz="1480">
              <a:solidFill>
                <a:srgbClr val="1F2937"/>
              </a:solidFill>
            </a:endParaRPr>
          </a:p>
          <a:p>
            <a:pPr indent="-32258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480"/>
              <a:buChar char="●"/>
            </a:pPr>
            <a:r>
              <a:rPr lang="en-US" sz="1480">
                <a:solidFill>
                  <a:srgbClr val="1F2937"/>
                </a:solidFill>
              </a:rPr>
              <a:t>обработку документов, т. е. распознавание информации в документе</a:t>
            </a:r>
            <a:endParaRPr sz="1480">
              <a:solidFill>
                <a:srgbClr val="1F2937"/>
              </a:solidFill>
            </a:endParaRPr>
          </a:p>
          <a:p>
            <a:pPr indent="-322580" lvl="0" marL="45720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480"/>
              <a:buChar char="●"/>
            </a:pPr>
            <a:r>
              <a:rPr lang="en-US" sz="1480">
                <a:solidFill>
                  <a:srgbClr val="1F2937"/>
                </a:solidFill>
              </a:rPr>
              <a:t>передачу распознанной информации в машиночитаемом виде для дальнейшего использования в ИС</a:t>
            </a:r>
            <a:endParaRPr sz="1480">
              <a:solidFill>
                <a:srgbClr val="1F2937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80">
              <a:solidFill>
                <a:srgbClr val="1F2937"/>
              </a:solidFill>
            </a:endParaRPr>
          </a:p>
        </p:txBody>
      </p:sp>
      <p:sp>
        <p:nvSpPr>
          <p:cNvPr id="101" name="Google Shape;101;p8"/>
          <p:cNvSpPr txBox="1"/>
          <p:nvPr/>
        </p:nvSpPr>
        <p:spPr>
          <a:xfrm>
            <a:off x="11823475" y="6457800"/>
            <a:ext cx="368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5</a:t>
            </a:r>
            <a:endParaRPr/>
          </a:p>
        </p:txBody>
      </p:sp>
      <p:sp>
        <p:nvSpPr>
          <p:cNvPr id="102" name="Google Shape;102;p8"/>
          <p:cNvSpPr txBox="1"/>
          <p:nvPr/>
        </p:nvSpPr>
        <p:spPr>
          <a:xfrm>
            <a:off x="807325" y="1556950"/>
            <a:ext cx="5349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Администрация Тюменской области</a:t>
            </a:r>
            <a:endParaRPr b="1"/>
          </a:p>
        </p:txBody>
      </p:sp>
      <p:sp>
        <p:nvSpPr>
          <p:cNvPr id="103" name="Google Shape;103;p8"/>
          <p:cNvSpPr/>
          <p:nvPr/>
        </p:nvSpPr>
        <p:spPr>
          <a:xfrm>
            <a:off x="861595" y="1236853"/>
            <a:ext cx="2743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1700"/>
              <a:buFont typeface="Arial"/>
              <a:buNone/>
            </a:pPr>
            <a:r>
              <a:rPr b="1" lang="en-US" sz="1700">
                <a:solidFill>
                  <a:srgbClr val="1E3A8A"/>
                </a:solidFill>
              </a:rPr>
              <a:t>Заказчик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9"/>
          <p:cNvSpPr/>
          <p:nvPr/>
        </p:nvSpPr>
        <p:spPr>
          <a:xfrm>
            <a:off x="632400" y="55425"/>
            <a:ext cx="109272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1E3A8A"/>
                </a:solidFill>
              </a:rPr>
              <a:t>Диаграмма “Как будет” процесса обработки документа от заказчика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0" name="Google Shape;110;p9"/>
          <p:cNvCxnSpPr/>
          <p:nvPr/>
        </p:nvCxnSpPr>
        <p:spPr>
          <a:xfrm>
            <a:off x="632410" y="614424"/>
            <a:ext cx="10927200" cy="0"/>
          </a:xfrm>
          <a:prstGeom prst="straightConnector1">
            <a:avLst/>
          </a:prstGeom>
          <a:noFill/>
          <a:ln cap="flat" cmpd="sng" w="15225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11" name="Google Shape;111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51752" y="676275"/>
            <a:ext cx="9488483" cy="6113425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9"/>
          <p:cNvSpPr txBox="1"/>
          <p:nvPr/>
        </p:nvSpPr>
        <p:spPr>
          <a:xfrm>
            <a:off x="-531675" y="7623775"/>
            <a:ext cx="3629100" cy="50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Проведенный анализ показал, что готовые решения не полностью подходят для обработки исследуемых юридических документов.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Классические OCR-системы плохо справляются с шумными сканами, печатями и сложной структурой страниц. Полноценные обучаемые модели классификации и NER требуют большого размеченного корпуса, который в данной задаче отсутствует. Rule-based методы работают быстро, но недостаточно устойчивы к вариативности формулировок и OCR-ошибкам.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Поэтому для решения задачи требуется собственный программный конвейер, объединяющий OCR-распознавание, классификацию документа, извлечение ключевых полей и формирование структурированного XML.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9"/>
          <p:cNvSpPr txBox="1"/>
          <p:nvPr/>
        </p:nvSpPr>
        <p:spPr>
          <a:xfrm>
            <a:off x="11823475" y="6457800"/>
            <a:ext cx="368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6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0"/>
          <p:cNvSpPr txBox="1"/>
          <p:nvPr/>
        </p:nvSpPr>
        <p:spPr>
          <a:xfrm>
            <a:off x="621792" y="164592"/>
            <a:ext cx="100584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00" u="none" cap="none" strike="noStrike">
                <a:solidFill>
                  <a:srgbClr val="26479A"/>
                </a:solidFill>
                <a:latin typeface="Arial"/>
                <a:ea typeface="Arial"/>
                <a:cs typeface="Arial"/>
                <a:sym typeface="Arial"/>
              </a:rPr>
              <a:t>Анализ показал: отдельные методы не решают задачу полностью</a:t>
            </a:r>
            <a:endParaRPr/>
          </a:p>
        </p:txBody>
      </p:sp>
      <p:sp>
        <p:nvSpPr>
          <p:cNvPr id="120" name="Google Shape;120;p10"/>
          <p:cNvSpPr txBox="1"/>
          <p:nvPr/>
        </p:nvSpPr>
        <p:spPr>
          <a:xfrm>
            <a:off x="1147257" y="874300"/>
            <a:ext cx="9784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10"/>
          <p:cNvSpPr/>
          <p:nvPr/>
        </p:nvSpPr>
        <p:spPr>
          <a:xfrm>
            <a:off x="1435000" y="1045125"/>
            <a:ext cx="2834700" cy="2331600"/>
          </a:xfrm>
          <a:prstGeom prst="roundRect">
            <a:avLst>
              <a:gd fmla="val 16667" name="adj"/>
            </a:avLst>
          </a:prstGeom>
          <a:solidFill>
            <a:srgbClr val="ECF3FF"/>
          </a:solidFill>
          <a:ln cap="flat" cmpd="sng" w="16500">
            <a:solidFill>
              <a:srgbClr val="3169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t" bIns="76200" lIns="127000" spcFirstLastPara="1" rIns="127000" wrap="square" tIns="1016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6479A"/>
                </a:solidFill>
                <a:latin typeface="Arial"/>
                <a:ea typeface="Arial"/>
                <a:cs typeface="Arial"/>
                <a:sym typeface="Arial"/>
              </a:rPr>
              <a:t>OCR-модели</a:t>
            </a:r>
            <a:endParaRPr sz="1500"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Преобразуют сканированный PDF в текст, но сами по себе не определяют тип документа и не извлекают ключевые поля в структурированном виде.</a:t>
            </a:r>
            <a:endParaRPr sz="1600"/>
          </a:p>
        </p:txBody>
      </p:sp>
      <p:sp>
        <p:nvSpPr>
          <p:cNvPr id="122" name="Google Shape;122;p10"/>
          <p:cNvSpPr/>
          <p:nvPr/>
        </p:nvSpPr>
        <p:spPr>
          <a:xfrm>
            <a:off x="4622010" y="1045125"/>
            <a:ext cx="2834700" cy="2331600"/>
          </a:xfrm>
          <a:prstGeom prst="roundRect">
            <a:avLst>
              <a:gd fmla="val 16667" name="adj"/>
            </a:avLst>
          </a:prstGeom>
          <a:solidFill>
            <a:srgbClr val="ECF3FF"/>
          </a:solidFill>
          <a:ln cap="flat" cmpd="sng" w="16500">
            <a:solidFill>
              <a:srgbClr val="3169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t" bIns="76200" lIns="127000" spcFirstLastPara="1" rIns="127000" wrap="square" tIns="1016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50">
                <a:solidFill>
                  <a:srgbClr val="26479A"/>
                </a:solidFill>
              </a:rPr>
              <a:t>Инструменты</a:t>
            </a:r>
            <a:r>
              <a:rPr b="1" i="0" lang="en-US" sz="1550" u="none" cap="none" strike="noStrike">
                <a:solidFill>
                  <a:srgbClr val="26479A"/>
                </a:solidFill>
                <a:latin typeface="Arial"/>
                <a:ea typeface="Arial"/>
                <a:cs typeface="Arial"/>
                <a:sym typeface="Arial"/>
              </a:rPr>
              <a:t> классификации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Позволяют определить тип документа, но не решают задачу распознавания текста и не формируют итоговую структурированную информацию.</a:t>
            </a:r>
            <a:endParaRPr sz="1600"/>
          </a:p>
        </p:txBody>
      </p:sp>
      <p:sp>
        <p:nvSpPr>
          <p:cNvPr id="123" name="Google Shape;123;p10"/>
          <p:cNvSpPr/>
          <p:nvPr/>
        </p:nvSpPr>
        <p:spPr>
          <a:xfrm>
            <a:off x="7808995" y="1045125"/>
            <a:ext cx="2834700" cy="2331600"/>
          </a:xfrm>
          <a:prstGeom prst="roundRect">
            <a:avLst>
              <a:gd fmla="val 16667" name="adj"/>
            </a:avLst>
          </a:prstGeom>
          <a:solidFill>
            <a:srgbClr val="ECF3FF"/>
          </a:solidFill>
          <a:ln cap="flat" cmpd="sng" w="16500">
            <a:solidFill>
              <a:srgbClr val="3169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t" bIns="76200" lIns="127000" spcFirstLastPara="1" rIns="127000" wrap="square" tIns="1016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0" u="none" cap="none" strike="noStrike">
                <a:solidFill>
                  <a:srgbClr val="26479A"/>
                </a:solidFill>
                <a:latin typeface="Arial"/>
                <a:ea typeface="Arial"/>
                <a:cs typeface="Arial"/>
                <a:sym typeface="Arial"/>
              </a:rPr>
              <a:t>LLM / </a:t>
            </a:r>
            <a:r>
              <a:rPr b="1" lang="en-US" sz="1550">
                <a:solidFill>
                  <a:srgbClr val="26479A"/>
                </a:solidFill>
              </a:rPr>
              <a:t>инструменты </a:t>
            </a:r>
            <a:r>
              <a:rPr b="1" i="0" lang="en-US" sz="1550" u="none" cap="none" strike="noStrike">
                <a:solidFill>
                  <a:srgbClr val="26479A"/>
                </a:solidFill>
                <a:latin typeface="Arial"/>
                <a:ea typeface="Arial"/>
                <a:cs typeface="Arial"/>
                <a:sym typeface="Arial"/>
              </a:rPr>
              <a:t>извлечения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Могут извлекать реквизиты из текста, но зависят от качества OCR и результата классификации. Крупные модели также требуют значительных вычислительных ресурсов.</a:t>
            </a:r>
            <a:endParaRPr sz="1600"/>
          </a:p>
        </p:txBody>
      </p:sp>
      <p:sp>
        <p:nvSpPr>
          <p:cNvPr id="124" name="Google Shape;124;p10"/>
          <p:cNvSpPr/>
          <p:nvPr/>
        </p:nvSpPr>
        <p:spPr>
          <a:xfrm>
            <a:off x="1912655" y="3962870"/>
            <a:ext cx="8366700" cy="1143000"/>
          </a:xfrm>
          <a:prstGeom prst="roundRect">
            <a:avLst>
              <a:gd fmla="val 16667" name="adj"/>
            </a:avLst>
          </a:prstGeom>
          <a:solidFill>
            <a:srgbClr val="E4F0FF"/>
          </a:solidFill>
          <a:ln cap="flat" cmpd="sng" w="19050">
            <a:solidFill>
              <a:srgbClr val="3169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26479A"/>
                </a:solidFill>
                <a:latin typeface="Arial"/>
                <a:ea typeface="Arial"/>
                <a:cs typeface="Arial"/>
                <a:sym typeface="Arial"/>
              </a:rPr>
              <a:t>Вывод: </a:t>
            </a:r>
            <a:r>
              <a:rPr b="0" i="0" lang="en-US" sz="16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для решения задачи требуется </a:t>
            </a:r>
            <a:r>
              <a:rPr lang="en-US" sz="1600">
                <a:solidFill>
                  <a:srgbClr val="222222"/>
                </a:solidFill>
              </a:rPr>
              <a:t>создание собственного программного конвейера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50" u="none" cap="none" strike="noStrike">
                <a:solidFill>
                  <a:srgbClr val="26479A"/>
                </a:solidFill>
                <a:latin typeface="Arial"/>
                <a:ea typeface="Arial"/>
                <a:cs typeface="Arial"/>
                <a:sym typeface="Arial"/>
              </a:rPr>
              <a:t>OCR  →  классификация  →  извлечение полей  →  структурированный XML</a:t>
            </a:r>
            <a:endParaRPr/>
          </a:p>
        </p:txBody>
      </p:sp>
      <p:cxnSp>
        <p:nvCxnSpPr>
          <p:cNvPr id="125" name="Google Shape;125;p10"/>
          <p:cNvCxnSpPr/>
          <p:nvPr/>
        </p:nvCxnSpPr>
        <p:spPr>
          <a:xfrm>
            <a:off x="632410" y="614424"/>
            <a:ext cx="10927200" cy="0"/>
          </a:xfrm>
          <a:prstGeom prst="straightConnector1">
            <a:avLst/>
          </a:prstGeom>
          <a:noFill/>
          <a:ln cap="flat" cmpd="sng" w="15225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6" name="Google Shape;126;p10"/>
          <p:cNvSpPr txBox="1"/>
          <p:nvPr/>
        </p:nvSpPr>
        <p:spPr>
          <a:xfrm>
            <a:off x="11823475" y="6457800"/>
            <a:ext cx="368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7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1"/>
          <p:cNvSpPr/>
          <p:nvPr/>
        </p:nvSpPr>
        <p:spPr>
          <a:xfrm>
            <a:off x="632400" y="84701"/>
            <a:ext cx="10789800" cy="2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1E3A8A"/>
                </a:solidFill>
              </a:rPr>
              <a:t>Формирование корпуса документов</a:t>
            </a:r>
            <a:endParaRPr sz="2400">
              <a:solidFill>
                <a:srgbClr val="1E3A8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3" name="Google Shape;133;p11"/>
          <p:cNvCxnSpPr/>
          <p:nvPr/>
        </p:nvCxnSpPr>
        <p:spPr>
          <a:xfrm>
            <a:off x="642410" y="419324"/>
            <a:ext cx="10927200" cy="0"/>
          </a:xfrm>
          <a:prstGeom prst="straightConnector1">
            <a:avLst/>
          </a:prstGeom>
          <a:noFill/>
          <a:ln cap="flat" cmpd="sng" w="15225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</p:cxnSp>
      <p:graphicFrame>
        <p:nvGraphicFramePr>
          <p:cNvPr id="134" name="Google Shape;134;p11"/>
          <p:cNvGraphicFramePr/>
          <p:nvPr/>
        </p:nvGraphicFramePr>
        <p:xfrm>
          <a:off x="203350" y="3277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{BDA16412-8DA7-4E10-A734-24902FDF6F4A}</a:tableStyleId>
              </a:tblPr>
              <a:tblGrid>
                <a:gridCol w="1691850"/>
                <a:gridCol w="1691850"/>
                <a:gridCol w="1691850"/>
                <a:gridCol w="1691850"/>
                <a:gridCol w="1541475"/>
                <a:gridCol w="1597825"/>
                <a:gridCol w="1898575"/>
              </a:tblGrid>
              <a:tr h="978700">
                <a:tc>
                  <a:txBody>
                    <a:bodyPr/>
                    <a:lstStyle/>
                    <a:p>
                      <a:pPr indent="0" lvl="0" marL="63500" marR="6350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Часть набора документов 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3500" marR="6350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Количество типов документов 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3500" marR="6350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Количество PDF документов на один тип 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3500" marR="6350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Общее количество PDF документов 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3500" marR="6350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Известен тип документа 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3500" marR="6350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Эталонные XML файлы 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3500" marR="6350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Проверенные текстовые файлы 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14750">
                <a:tc>
                  <a:txBody>
                    <a:bodyPr/>
                    <a:lstStyle/>
                    <a:p>
                      <a:pPr indent="0" lvl="0" marL="63500" marR="6350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Документы с эталонной разметкой 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3500" marR="635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 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3500" marR="635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r>
                        <a:rPr lang="en-US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3500" marR="635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30</a:t>
                      </a:r>
                      <a:r>
                        <a:rPr lang="en-US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3500" marR="635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Да 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3500" marR="635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Да 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3500" marR="635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Да 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14750">
                <a:tc>
                  <a:txBody>
                    <a:bodyPr/>
                    <a:lstStyle/>
                    <a:p>
                      <a:pPr indent="0" lvl="0" marL="63500" marR="6350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Документы </a:t>
                      </a:r>
                      <a:r>
                        <a:rPr lang="en-US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без эталонной разметки 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3500" marR="635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 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3500" marR="635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</a:t>
                      </a:r>
                      <a:r>
                        <a:rPr lang="en-US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3500" marR="635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120</a:t>
                      </a:r>
                      <a:r>
                        <a:rPr lang="en-US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3500" marR="635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Нет 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3500" marR="635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Нет 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3500" marR="635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Нет 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5375">
                <a:tc>
                  <a:txBody>
                    <a:bodyPr/>
                    <a:lstStyle/>
                    <a:p>
                      <a:pPr indent="0" lvl="0" marL="63500" marR="6350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Итого 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3500" marR="635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 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3500" marR="635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 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3500" marR="635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150</a:t>
                      </a:r>
                      <a:r>
                        <a:rPr lang="en-US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444500" lvl="0" marL="63500" marR="6350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 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3500" marR="635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 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3500" marR="635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 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35" name="Google Shape;135;p11"/>
          <p:cNvSpPr txBox="1"/>
          <p:nvPr/>
        </p:nvSpPr>
        <p:spPr>
          <a:xfrm>
            <a:off x="11823475" y="6457800"/>
            <a:ext cx="368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8</a:t>
            </a:r>
            <a:endParaRPr/>
          </a:p>
        </p:txBody>
      </p:sp>
      <p:pic>
        <p:nvPicPr>
          <p:cNvPr id="136" name="Google Shape;136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23838" y="419323"/>
            <a:ext cx="4764300" cy="2858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2"/>
          <p:cNvSpPr/>
          <p:nvPr/>
        </p:nvSpPr>
        <p:spPr>
          <a:xfrm>
            <a:off x="632400" y="84701"/>
            <a:ext cx="10789800" cy="2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1E3A8A"/>
                </a:solidFill>
              </a:rPr>
              <a:t>Разработка программного конвейера</a:t>
            </a:r>
            <a:endParaRPr sz="2400">
              <a:solidFill>
                <a:srgbClr val="1E3A8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3" name="Google Shape;143;p12"/>
          <p:cNvCxnSpPr/>
          <p:nvPr/>
        </p:nvCxnSpPr>
        <p:spPr>
          <a:xfrm>
            <a:off x="642410" y="380299"/>
            <a:ext cx="10927200" cy="0"/>
          </a:xfrm>
          <a:prstGeom prst="straightConnector1">
            <a:avLst/>
          </a:prstGeom>
          <a:noFill/>
          <a:ln cap="flat" cmpd="sng" w="15225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4" name="Google Shape;144;p12"/>
          <p:cNvSpPr/>
          <p:nvPr/>
        </p:nvSpPr>
        <p:spPr>
          <a:xfrm>
            <a:off x="951125" y="1280663"/>
            <a:ext cx="4965600" cy="2643600"/>
          </a:xfrm>
          <a:prstGeom prst="roundRect">
            <a:avLst>
              <a:gd fmla="val 2254" name="adj"/>
            </a:avLst>
          </a:prstGeom>
          <a:solidFill>
            <a:srgbClr val="EFF6FF"/>
          </a:solidFill>
          <a:ln cap="flat" cmpd="sng" w="11325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8725" lIns="108725" spcFirstLastPara="1" rIns="108725" wrap="square" tIns="108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65"/>
          </a:p>
        </p:txBody>
      </p:sp>
      <p:sp>
        <p:nvSpPr>
          <p:cNvPr id="145" name="Google Shape;145;p12"/>
          <p:cNvSpPr/>
          <p:nvPr/>
        </p:nvSpPr>
        <p:spPr>
          <a:xfrm>
            <a:off x="1061500" y="1378238"/>
            <a:ext cx="4643400" cy="24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50" lIns="750" spcFirstLastPara="1" rIns="750" wrap="square" tIns="75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546">
                <a:solidFill>
                  <a:srgbClr val="1E3A8A"/>
                </a:solidFill>
              </a:rPr>
              <a:t>В конвейере реализованы:</a:t>
            </a:r>
            <a:endParaRPr b="1" sz="1546">
              <a:solidFill>
                <a:srgbClr val="1E3A8A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189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46">
                <a:solidFill>
                  <a:schemeClr val="dk1"/>
                </a:solidFill>
              </a:rPr>
              <a:t>• OCR-распознавание текста;</a:t>
            </a:r>
            <a:endParaRPr sz="1346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189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46">
                <a:solidFill>
                  <a:schemeClr val="dk1"/>
                </a:solidFill>
              </a:rPr>
              <a:t>• определение типа документа;</a:t>
            </a:r>
            <a:endParaRPr sz="1346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189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46">
                <a:solidFill>
                  <a:schemeClr val="dk1"/>
                </a:solidFill>
              </a:rPr>
              <a:t>• извлечение ключевых полей;</a:t>
            </a:r>
            <a:endParaRPr sz="1346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189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46">
                <a:solidFill>
                  <a:schemeClr val="dk1"/>
                </a:solidFill>
              </a:rPr>
              <a:t>• формирование JSON и итогового XML;</a:t>
            </a:r>
            <a:endParaRPr sz="1346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189"/>
              </a:spcBef>
              <a:spcAft>
                <a:spcPts val="1189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46">
                <a:solidFill>
                  <a:schemeClr val="dk1"/>
                </a:solidFill>
              </a:rPr>
              <a:t>• сохранение промежуточных результатов для проверки.</a:t>
            </a:r>
            <a:endParaRPr sz="1346">
              <a:solidFill>
                <a:schemeClr val="dk1"/>
              </a:solidFill>
            </a:endParaRPr>
          </a:p>
        </p:txBody>
      </p:sp>
      <p:pic>
        <p:nvPicPr>
          <p:cNvPr id="146" name="Google Shape;146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54475" y="458255"/>
            <a:ext cx="4467725" cy="6409499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2"/>
          <p:cNvSpPr txBox="1"/>
          <p:nvPr/>
        </p:nvSpPr>
        <p:spPr>
          <a:xfrm>
            <a:off x="11774700" y="6457800"/>
            <a:ext cx="417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9</a:t>
            </a:r>
            <a:endParaRPr/>
          </a:p>
        </p:txBody>
      </p:sp>
      <p:sp>
        <p:nvSpPr>
          <p:cNvPr id="148" name="Google Shape;148;p12"/>
          <p:cNvSpPr/>
          <p:nvPr/>
        </p:nvSpPr>
        <p:spPr>
          <a:xfrm>
            <a:off x="951125" y="4483201"/>
            <a:ext cx="4965600" cy="1243200"/>
          </a:xfrm>
          <a:prstGeom prst="roundRect">
            <a:avLst>
              <a:gd fmla="val 2254" name="adj"/>
            </a:avLst>
          </a:prstGeom>
          <a:solidFill>
            <a:srgbClr val="EFF6FF"/>
          </a:solidFill>
          <a:ln cap="flat" cmpd="sng" w="9525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12"/>
          <p:cNvSpPr/>
          <p:nvPr/>
        </p:nvSpPr>
        <p:spPr>
          <a:xfrm>
            <a:off x="1061495" y="4536378"/>
            <a:ext cx="2743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1700"/>
              <a:buFont typeface="Arial"/>
              <a:buNone/>
            </a:pPr>
            <a:r>
              <a:rPr b="1" lang="en-US" sz="1500">
                <a:solidFill>
                  <a:srgbClr val="1E3A8A"/>
                </a:solidFill>
              </a:rPr>
              <a:t>Вывод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12"/>
          <p:cNvSpPr/>
          <p:nvPr/>
        </p:nvSpPr>
        <p:spPr>
          <a:xfrm>
            <a:off x="1081925" y="4795275"/>
            <a:ext cx="4704000" cy="79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189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46">
                <a:solidFill>
                  <a:schemeClr val="dk1"/>
                </a:solidFill>
              </a:rPr>
              <a:t>Р</a:t>
            </a:r>
            <a:r>
              <a:rPr lang="en-US" sz="1346">
                <a:solidFill>
                  <a:schemeClr val="dk1"/>
                </a:solidFill>
              </a:rPr>
              <a:t>азработанный конвейер обеспечивает воспроизводимую автоматизированную обработку юридического документа и позволяет контролировать результат на каждом этапе. </a:t>
            </a:r>
            <a:endParaRPr sz="14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3"/>
          <p:cNvSpPr/>
          <p:nvPr/>
        </p:nvSpPr>
        <p:spPr>
          <a:xfrm>
            <a:off x="594350" y="175600"/>
            <a:ext cx="11141400" cy="114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rgbClr val="1E3A8A"/>
                </a:solidFill>
              </a:rPr>
              <a:t>BPMN нотация “как будет”</a:t>
            </a:r>
            <a:r>
              <a:rPr b="1" lang="en-US" sz="2400">
                <a:solidFill>
                  <a:srgbClr val="1E3A8A"/>
                </a:solidFill>
              </a:rPr>
              <a:t> реализуемого конвейера</a:t>
            </a:r>
            <a:endParaRPr b="1" sz="2400">
              <a:solidFill>
                <a:srgbClr val="1E3A8A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2400"/>
              <a:buFont typeface="Arial"/>
              <a:buNone/>
            </a:pPr>
            <a:r>
              <a:t/>
            </a:r>
            <a:endParaRPr b="1" sz="2400">
              <a:solidFill>
                <a:srgbClr val="1E3A8A"/>
              </a:solidFill>
            </a:endParaRPr>
          </a:p>
        </p:txBody>
      </p:sp>
      <p:cxnSp>
        <p:nvCxnSpPr>
          <p:cNvPr id="157" name="Google Shape;157;p13"/>
          <p:cNvCxnSpPr/>
          <p:nvPr/>
        </p:nvCxnSpPr>
        <p:spPr>
          <a:xfrm>
            <a:off x="632410" y="897349"/>
            <a:ext cx="10927200" cy="0"/>
          </a:xfrm>
          <a:prstGeom prst="straightConnector1">
            <a:avLst/>
          </a:prstGeom>
          <a:noFill/>
          <a:ln cap="flat" cmpd="sng" w="15225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8" name="Google Shape;158;p13"/>
          <p:cNvSpPr txBox="1"/>
          <p:nvPr/>
        </p:nvSpPr>
        <p:spPr>
          <a:xfrm>
            <a:off x="11735750" y="6457800"/>
            <a:ext cx="456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</a:t>
            </a:r>
            <a:endParaRPr/>
          </a:p>
        </p:txBody>
      </p:sp>
      <p:pic>
        <p:nvPicPr>
          <p:cNvPr id="159" name="Google Shape;159;p13" title="bpmn_legal_docs_compact (1).drawio (3).png"/>
          <p:cNvPicPr preferRelativeResize="0"/>
          <p:nvPr/>
        </p:nvPicPr>
        <p:blipFill rotWithShape="1">
          <a:blip r:embed="rId3">
            <a:alphaModFix/>
          </a:blip>
          <a:srcRect b="0" l="2220" r="0" t="0"/>
          <a:stretch/>
        </p:blipFill>
        <p:spPr>
          <a:xfrm>
            <a:off x="33550" y="990850"/>
            <a:ext cx="12158200" cy="52280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4"/>
          <p:cNvSpPr/>
          <p:nvPr/>
        </p:nvSpPr>
        <p:spPr>
          <a:xfrm>
            <a:off x="594360" y="338328"/>
            <a:ext cx="107898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Этап OCR: получение текста из скана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6" name="Google Shape;166;p14"/>
          <p:cNvCxnSpPr/>
          <p:nvPr/>
        </p:nvCxnSpPr>
        <p:spPr>
          <a:xfrm>
            <a:off x="594360" y="877824"/>
            <a:ext cx="10927200" cy="0"/>
          </a:xfrm>
          <a:prstGeom prst="straightConnector1">
            <a:avLst/>
          </a:prstGeom>
          <a:noFill/>
          <a:ln cap="flat" cmpd="sng" w="15225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</p:cxnSp>
      <p:graphicFrame>
        <p:nvGraphicFramePr>
          <p:cNvPr id="167" name="Google Shape;167;p14"/>
          <p:cNvGraphicFramePr/>
          <p:nvPr/>
        </p:nvGraphicFramePr>
        <p:xfrm>
          <a:off x="1365775" y="2814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{BDA16412-8DA7-4E10-A734-24902FDF6F4A}</a:tableStyleId>
              </a:tblPr>
              <a:tblGrid>
                <a:gridCol w="2704700"/>
                <a:gridCol w="1251025"/>
                <a:gridCol w="1691925"/>
                <a:gridCol w="1906400"/>
                <a:gridCol w="1906400"/>
              </a:tblGrid>
              <a:tr h="470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Модель </a:t>
                      </a:r>
                      <a:endParaRPr b="1"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среднее </a:t>
                      </a:r>
                      <a:r>
                        <a:rPr b="1" lang="en-US" sz="1200"/>
                        <a:t>CER </a:t>
                      </a:r>
                      <a:endParaRPr b="1"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среднее </a:t>
                      </a:r>
                      <a:r>
                        <a:rPr b="1" lang="en-US" sz="1200"/>
                        <a:t>WER </a:t>
                      </a:r>
                      <a:endParaRPr b="1"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среднее </a:t>
                      </a:r>
                      <a:r>
                        <a:rPr b="1" lang="en-US" sz="1200"/>
                        <a:t>SER </a:t>
                      </a:r>
                      <a:endParaRPr b="1"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Ресурсы</a:t>
                      </a:r>
                      <a:endParaRPr b="1"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0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Qwen3-VL-30B-A3B-Instruct </a:t>
                      </a:r>
                      <a:endParaRPr b="1"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0.0101 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0.0049 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0.75 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chemeClr val="dk1"/>
                          </a:solidFill>
                        </a:rPr>
                        <a:t>36+ GB VRAM</a:t>
                      </a:r>
                      <a:r>
                        <a:rPr lang="en-US" sz="1100">
                          <a:solidFill>
                            <a:schemeClr val="dk1"/>
                          </a:solidFill>
                        </a:rPr>
                        <a:t> в 4-bit / </a:t>
                      </a:r>
                      <a:r>
                        <a:rPr b="1" lang="en-US" sz="1100">
                          <a:solidFill>
                            <a:schemeClr val="dk1"/>
                          </a:solidFill>
                        </a:rPr>
                        <a:t>65–75+ GB</a:t>
                      </a:r>
                      <a:r>
                        <a:rPr lang="en-US" sz="1100">
                          <a:solidFill>
                            <a:schemeClr val="dk1"/>
                          </a:solidFill>
                        </a:rPr>
                        <a:t> без сжатия 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0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Deepseek(VL+MoE) </a:t>
                      </a:r>
                      <a:endParaRPr b="1"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0.0185 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0.0243 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0.72 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chemeClr val="dk1"/>
                          </a:solidFill>
                        </a:rPr>
                        <a:t>16-20 GB VRAM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0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PaddleOCR-VL</a:t>
                      </a:r>
                      <a:endParaRPr b="1" sz="1200"/>
                    </a:p>
                  </a:txBody>
                  <a:tcPr marT="91425" marB="91425" marR="91425" marL="91425">
                    <a:lnL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0.0310 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0.0365 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0.67 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10–14 GB VRAM 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</a:tr>
              <a:tr h="470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olmOCR2 </a:t>
                      </a:r>
                      <a:endParaRPr b="1"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0.0782 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0.0974 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0.54 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12–16 GB VRAM 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0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EasyOCR </a:t>
                      </a:r>
                      <a:endParaRPr b="1"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0.1009 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0.1704 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0.49 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chemeClr val="dk1"/>
                          </a:solidFill>
                        </a:rPr>
                        <a:t>2–4 GB VRAM</a:t>
                      </a:r>
                      <a:r>
                        <a:rPr lang="en-US" sz="1100">
                          <a:solidFill>
                            <a:schemeClr val="dk1"/>
                          </a:solidFill>
                        </a:rPr>
                        <a:t> или </a:t>
                      </a:r>
                      <a:r>
                        <a:rPr b="1" lang="en-US" sz="1100">
                          <a:solidFill>
                            <a:schemeClr val="dk1"/>
                          </a:solidFill>
                        </a:rPr>
                        <a:t>0 GB VRAM</a:t>
                      </a:r>
                      <a:r>
                        <a:rPr lang="en-US" sz="1100">
                          <a:solidFill>
                            <a:schemeClr val="dk1"/>
                          </a:solidFill>
                        </a:rPr>
                        <a:t> в CPU-режиме 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0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Nanonets-OCR2-3b </a:t>
                      </a:r>
                      <a:endParaRPr b="1"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0.1885 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0.1558 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0.42 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8–12 GB VRAM 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0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Tesseract </a:t>
                      </a:r>
                      <a:endParaRPr b="1"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0.1302 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0.1800 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0.47 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chemeClr val="dk1"/>
                          </a:solidFill>
                        </a:rPr>
                        <a:t>0 GB VRAM</a:t>
                      </a:r>
                      <a:r>
                        <a:rPr lang="en-US" sz="1100">
                          <a:solidFill>
                            <a:schemeClr val="dk1"/>
                          </a:solidFill>
                        </a:rPr>
                        <a:t>, работает на CPU, обычно от </a:t>
                      </a:r>
                      <a:r>
                        <a:rPr b="1" lang="en-US" sz="1100">
                          <a:solidFill>
                            <a:schemeClr val="dk1"/>
                          </a:solidFill>
                        </a:rPr>
                        <a:t>1 GB RAM</a:t>
                      </a:r>
                      <a:r>
                        <a:rPr lang="en-US" sz="1100">
                          <a:solidFill>
                            <a:schemeClr val="dk1"/>
                          </a:solidFill>
                        </a:rPr>
                        <a:t> 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168" name="Google Shape;168;p14"/>
          <p:cNvGrpSpPr/>
          <p:nvPr/>
        </p:nvGrpSpPr>
        <p:grpSpPr>
          <a:xfrm>
            <a:off x="423748" y="1191613"/>
            <a:ext cx="3478500" cy="1451100"/>
            <a:chOff x="462773" y="1321163"/>
            <a:chExt cx="3478500" cy="1451100"/>
          </a:xfrm>
        </p:grpSpPr>
        <p:sp>
          <p:nvSpPr>
            <p:cNvPr id="169" name="Google Shape;169;p14"/>
            <p:cNvSpPr/>
            <p:nvPr/>
          </p:nvSpPr>
          <p:spPr>
            <a:xfrm>
              <a:off x="462773" y="1321163"/>
              <a:ext cx="3478500" cy="1451100"/>
            </a:xfrm>
            <a:prstGeom prst="roundRect">
              <a:avLst>
                <a:gd fmla="val 5634" name="adj"/>
              </a:avLst>
            </a:prstGeom>
            <a:solidFill>
              <a:srgbClr val="F3F4F6"/>
            </a:solidFill>
            <a:ln cap="flat" cmpd="sng" w="9525">
              <a:solidFill>
                <a:srgbClr val="D1D5D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" name="Google Shape;170;p14"/>
            <p:cNvSpPr/>
            <p:nvPr/>
          </p:nvSpPr>
          <p:spPr>
            <a:xfrm>
              <a:off x="594355" y="1425225"/>
              <a:ext cx="2791500" cy="237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-US" sz="1350">
                  <a:solidFill>
                    <a:srgbClr val="1E3A8A"/>
                  </a:solidFill>
                </a:rPr>
                <a:t>Документная специализация</a:t>
              </a:r>
              <a:endParaRPr b="1" sz="1350">
                <a:solidFill>
                  <a:srgbClr val="1E3A8A"/>
                </a:solidFill>
              </a:endParaRPr>
            </a:p>
          </p:txBody>
        </p:sp>
        <p:sp>
          <p:nvSpPr>
            <p:cNvPr id="171" name="Google Shape;171;p14"/>
            <p:cNvSpPr/>
            <p:nvPr/>
          </p:nvSpPr>
          <p:spPr>
            <a:xfrm>
              <a:off x="616375" y="1944300"/>
              <a:ext cx="3171300" cy="59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475569"/>
                </a:buClr>
                <a:buSzPts val="1220"/>
                <a:buFont typeface="Arial"/>
                <a:buNone/>
              </a:pPr>
              <a:r>
                <a:rPr b="0" i="0" lang="en-US" sz="122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Модель ориентирована на распознавание и разбор документов, а не только на посимвольное OCR.</a:t>
              </a:r>
              <a:endParaRPr b="0" i="0" sz="122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2" name="Google Shape;172;p14"/>
          <p:cNvGrpSpPr/>
          <p:nvPr/>
        </p:nvGrpSpPr>
        <p:grpSpPr>
          <a:xfrm>
            <a:off x="4322036" y="1191625"/>
            <a:ext cx="3478500" cy="1451100"/>
            <a:chOff x="462773" y="1321163"/>
            <a:chExt cx="3478500" cy="1451100"/>
          </a:xfrm>
        </p:grpSpPr>
        <p:sp>
          <p:nvSpPr>
            <p:cNvPr id="173" name="Google Shape;173;p14"/>
            <p:cNvSpPr/>
            <p:nvPr/>
          </p:nvSpPr>
          <p:spPr>
            <a:xfrm>
              <a:off x="462773" y="1321163"/>
              <a:ext cx="3478500" cy="1451100"/>
            </a:xfrm>
            <a:prstGeom prst="roundRect">
              <a:avLst>
                <a:gd fmla="val 5634" name="adj"/>
              </a:avLst>
            </a:prstGeom>
            <a:solidFill>
              <a:schemeClr val="lt1"/>
            </a:solidFill>
            <a:ln cap="flat" cmpd="sng" w="9525">
              <a:solidFill>
                <a:srgbClr val="D1D5D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" name="Google Shape;174;p14"/>
            <p:cNvSpPr/>
            <p:nvPr/>
          </p:nvSpPr>
          <p:spPr>
            <a:xfrm>
              <a:off x="594355" y="1425225"/>
              <a:ext cx="2791500" cy="237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-US" sz="1350">
                  <a:solidFill>
                    <a:srgbClr val="1E3A8A"/>
                  </a:solidFill>
                </a:rPr>
                <a:t>Устойчивость к сканам</a:t>
              </a:r>
              <a:endParaRPr b="1" sz="1350">
                <a:solidFill>
                  <a:srgbClr val="1E3A8A"/>
                </a:solidFill>
              </a:endParaRPr>
            </a:p>
          </p:txBody>
        </p:sp>
        <p:sp>
          <p:nvSpPr>
            <p:cNvPr id="175" name="Google Shape;175;p14"/>
            <p:cNvSpPr/>
            <p:nvPr/>
          </p:nvSpPr>
          <p:spPr>
            <a:xfrm>
              <a:off x="616375" y="1944312"/>
              <a:ext cx="3171300" cy="59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1220">
                  <a:solidFill>
                    <a:schemeClr val="dk1"/>
                  </a:solidFill>
                </a:rPr>
                <a:t>Лучше работает с неоднородным качеством страниц, таблицами и плотной юридической версткой.</a:t>
              </a:r>
              <a:endParaRPr sz="122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t/>
              </a:r>
              <a:endParaRPr sz="1220">
                <a:solidFill>
                  <a:schemeClr val="dk1"/>
                </a:solidFill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475569"/>
                </a:buClr>
                <a:buSzPts val="1220"/>
                <a:buFont typeface="Arial"/>
                <a:buNone/>
              </a:pPr>
              <a:r>
                <a:t/>
              </a:r>
              <a:endParaRPr sz="1220">
                <a:solidFill>
                  <a:schemeClr val="dk1"/>
                </a:solidFill>
              </a:endParaRPr>
            </a:p>
          </p:txBody>
        </p:sp>
      </p:grpSp>
      <p:grpSp>
        <p:nvGrpSpPr>
          <p:cNvPr id="176" name="Google Shape;176;p14"/>
          <p:cNvGrpSpPr/>
          <p:nvPr/>
        </p:nvGrpSpPr>
        <p:grpSpPr>
          <a:xfrm>
            <a:off x="8220323" y="1191625"/>
            <a:ext cx="3478500" cy="1451100"/>
            <a:chOff x="462773" y="1321163"/>
            <a:chExt cx="3478500" cy="1451100"/>
          </a:xfrm>
        </p:grpSpPr>
        <p:sp>
          <p:nvSpPr>
            <p:cNvPr id="177" name="Google Shape;177;p14"/>
            <p:cNvSpPr/>
            <p:nvPr/>
          </p:nvSpPr>
          <p:spPr>
            <a:xfrm>
              <a:off x="462773" y="1321163"/>
              <a:ext cx="3478500" cy="1451100"/>
            </a:xfrm>
            <a:prstGeom prst="roundRect">
              <a:avLst>
                <a:gd fmla="val 5634" name="adj"/>
              </a:avLst>
            </a:prstGeom>
            <a:solidFill>
              <a:srgbClr val="F3F4F6"/>
            </a:solidFill>
            <a:ln cap="flat" cmpd="sng" w="9525">
              <a:solidFill>
                <a:srgbClr val="D1D5D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" name="Google Shape;178;p14"/>
            <p:cNvSpPr/>
            <p:nvPr/>
          </p:nvSpPr>
          <p:spPr>
            <a:xfrm>
              <a:off x="594355" y="1425225"/>
              <a:ext cx="2791500" cy="237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-US" sz="1350">
                  <a:solidFill>
                    <a:srgbClr val="1E3A8A"/>
                  </a:solidFill>
                </a:rPr>
                <a:t>Практический баланс</a:t>
              </a:r>
              <a:endParaRPr b="1" sz="1350">
                <a:solidFill>
                  <a:srgbClr val="1E3A8A"/>
                </a:solidFill>
              </a:endParaRPr>
            </a:p>
          </p:txBody>
        </p:sp>
        <p:sp>
          <p:nvSpPr>
            <p:cNvPr id="179" name="Google Shape;179;p14"/>
            <p:cNvSpPr/>
            <p:nvPr/>
          </p:nvSpPr>
          <p:spPr>
            <a:xfrm>
              <a:off x="616375" y="1944319"/>
              <a:ext cx="3171300" cy="576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1220">
                  <a:solidFill>
                    <a:schemeClr val="dk1"/>
                  </a:solidFill>
                </a:rPr>
                <a:t>Баланс между качеством результата OCR и требуемыми вычислительными ресурсами.</a:t>
              </a:r>
              <a:endParaRPr sz="1220">
                <a:solidFill>
                  <a:schemeClr val="dk1"/>
                </a:solidFill>
              </a:endParaRPr>
            </a:p>
          </p:txBody>
        </p:sp>
      </p:grpSp>
      <p:sp>
        <p:nvSpPr>
          <p:cNvPr id="180" name="Google Shape;180;p14"/>
          <p:cNvSpPr txBox="1"/>
          <p:nvPr/>
        </p:nvSpPr>
        <p:spPr>
          <a:xfrm>
            <a:off x="11784450" y="6457800"/>
            <a:ext cx="407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11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5"/>
          <p:cNvSpPr/>
          <p:nvPr/>
        </p:nvSpPr>
        <p:spPr>
          <a:xfrm>
            <a:off x="369985" y="3"/>
            <a:ext cx="107898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1E3A8A"/>
                </a:solidFill>
              </a:rPr>
              <a:t>Результат распознавания текста юридического документа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7" name="Google Shape;187;p15"/>
          <p:cNvCxnSpPr/>
          <p:nvPr/>
        </p:nvCxnSpPr>
        <p:spPr>
          <a:xfrm>
            <a:off x="369985" y="539499"/>
            <a:ext cx="10927200" cy="0"/>
          </a:xfrm>
          <a:prstGeom prst="straightConnector1">
            <a:avLst/>
          </a:prstGeom>
          <a:noFill/>
          <a:ln cap="flat" cmpd="sng" w="15225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88" name="Google Shape;18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05620" y="564003"/>
            <a:ext cx="6733980" cy="5809282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15" title="Снимок экрана 2026-06-18 22260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5350" y="539503"/>
            <a:ext cx="4364883" cy="6141598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15"/>
          <p:cNvSpPr txBox="1"/>
          <p:nvPr/>
        </p:nvSpPr>
        <p:spPr>
          <a:xfrm>
            <a:off x="11773800" y="6457800"/>
            <a:ext cx="418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12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6"/>
          <p:cNvSpPr/>
          <p:nvPr/>
        </p:nvSpPr>
        <p:spPr>
          <a:xfrm>
            <a:off x="369985" y="3"/>
            <a:ext cx="107898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1E3A8A"/>
                </a:solidFill>
              </a:rPr>
              <a:t>Результат распознавания текста юридического документа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7" name="Google Shape;197;p16"/>
          <p:cNvCxnSpPr/>
          <p:nvPr/>
        </p:nvCxnSpPr>
        <p:spPr>
          <a:xfrm>
            <a:off x="369985" y="539499"/>
            <a:ext cx="10927200" cy="0"/>
          </a:xfrm>
          <a:prstGeom prst="straightConnector1">
            <a:avLst/>
          </a:prstGeom>
          <a:noFill/>
          <a:ln cap="flat" cmpd="sng" w="15225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8" name="Google Shape;198;p16"/>
          <p:cNvSpPr txBox="1"/>
          <p:nvPr/>
        </p:nvSpPr>
        <p:spPr>
          <a:xfrm>
            <a:off x="11773800" y="6457800"/>
            <a:ext cx="418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12</a:t>
            </a:r>
            <a:endParaRPr/>
          </a:p>
        </p:txBody>
      </p:sp>
      <p:pic>
        <p:nvPicPr>
          <p:cNvPr id="199" name="Google Shape;19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1400" y="539500"/>
            <a:ext cx="4445451" cy="6318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89251" y="564003"/>
            <a:ext cx="6594081" cy="5741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7"/>
          <p:cNvSpPr/>
          <p:nvPr/>
        </p:nvSpPr>
        <p:spPr>
          <a:xfrm>
            <a:off x="632400" y="0"/>
            <a:ext cx="11141400" cy="114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rgbClr val="1E3A8A"/>
                </a:solidFill>
              </a:rPr>
              <a:t>Анализ применения моделей нейронных сетей для задачи классификации документа</a:t>
            </a:r>
            <a:endParaRPr b="1" sz="2400">
              <a:solidFill>
                <a:srgbClr val="1E3A8A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2400"/>
              <a:buFont typeface="Arial"/>
              <a:buNone/>
            </a:pPr>
            <a:r>
              <a:t/>
            </a:r>
            <a:endParaRPr b="1" sz="2400">
              <a:solidFill>
                <a:srgbClr val="1E3A8A"/>
              </a:solidFill>
            </a:endParaRPr>
          </a:p>
        </p:txBody>
      </p:sp>
      <p:cxnSp>
        <p:nvCxnSpPr>
          <p:cNvPr id="207" name="Google Shape;207;p17"/>
          <p:cNvCxnSpPr/>
          <p:nvPr/>
        </p:nvCxnSpPr>
        <p:spPr>
          <a:xfrm>
            <a:off x="597697" y="780299"/>
            <a:ext cx="10927200" cy="0"/>
          </a:xfrm>
          <a:prstGeom prst="straightConnector1">
            <a:avLst/>
          </a:prstGeom>
          <a:noFill/>
          <a:ln cap="flat" cmpd="sng" w="15225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08" name="Google Shape;208;p17"/>
          <p:cNvGrpSpPr/>
          <p:nvPr/>
        </p:nvGrpSpPr>
        <p:grpSpPr>
          <a:xfrm>
            <a:off x="345703" y="946540"/>
            <a:ext cx="2649226" cy="2399539"/>
            <a:chOff x="462773" y="1321163"/>
            <a:chExt cx="3478500" cy="1451100"/>
          </a:xfrm>
        </p:grpSpPr>
        <p:sp>
          <p:nvSpPr>
            <p:cNvPr id="209" name="Google Shape;209;p17"/>
            <p:cNvSpPr/>
            <p:nvPr/>
          </p:nvSpPr>
          <p:spPr>
            <a:xfrm>
              <a:off x="462773" y="1321163"/>
              <a:ext cx="3478500" cy="1451100"/>
            </a:xfrm>
            <a:prstGeom prst="roundRect">
              <a:avLst>
                <a:gd fmla="val 5634" name="adj"/>
              </a:avLst>
            </a:prstGeom>
            <a:solidFill>
              <a:srgbClr val="F3F4F6"/>
            </a:solidFill>
            <a:ln cap="flat" cmpd="sng" w="9300">
              <a:solidFill>
                <a:srgbClr val="D1D5D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9225" lIns="89225" spcFirstLastPara="1" rIns="89225" wrap="square" tIns="892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" name="Google Shape;210;p17"/>
            <p:cNvSpPr/>
            <p:nvPr/>
          </p:nvSpPr>
          <p:spPr>
            <a:xfrm>
              <a:off x="594355" y="1425225"/>
              <a:ext cx="2791500" cy="237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73"/>
                <a:buFont typeface="Arial"/>
                <a:buNone/>
              </a:pPr>
              <a:r>
                <a:rPr b="1" lang="en-US" sz="1317">
                  <a:solidFill>
                    <a:srgbClr val="1E3A8A"/>
                  </a:solidFill>
                </a:rPr>
                <a:t>Размер данных и необходимость обучения</a:t>
              </a:r>
              <a:endParaRPr b="1" sz="1317">
                <a:solidFill>
                  <a:srgbClr val="1E3A8A"/>
                </a:solidFill>
              </a:endParaRPr>
            </a:p>
          </p:txBody>
        </p:sp>
        <p:sp>
          <p:nvSpPr>
            <p:cNvPr id="211" name="Google Shape;211;p17"/>
            <p:cNvSpPr/>
            <p:nvPr/>
          </p:nvSpPr>
          <p:spPr>
            <a:xfrm>
              <a:off x="616375" y="1749275"/>
              <a:ext cx="3171300" cy="94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475569"/>
                </a:buClr>
                <a:buSzPts val="1190"/>
                <a:buFont typeface="Arial"/>
                <a:buNone/>
              </a:pPr>
              <a:r>
                <a:rPr lang="en-US" sz="1299">
                  <a:solidFill>
                    <a:schemeClr val="dk1"/>
                  </a:solidFill>
                </a:rPr>
                <a:t>Методы сравнивались по тому, требуется ли им большой размеченный корпус. В условиях малого набора эталонов преимущество получили подходы без дообучения</a:t>
              </a:r>
              <a:r>
                <a:rPr lang="en-US" sz="1299">
                  <a:solidFill>
                    <a:schemeClr val="dk1"/>
                  </a:solidFill>
                </a:rPr>
                <a:t>.</a:t>
              </a:r>
              <a:endParaRPr b="0" i="0" sz="1299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12" name="Google Shape;212;p17"/>
          <p:cNvGrpSpPr/>
          <p:nvPr/>
        </p:nvGrpSpPr>
        <p:grpSpPr>
          <a:xfrm>
            <a:off x="3225675" y="957600"/>
            <a:ext cx="2649226" cy="2399539"/>
            <a:chOff x="462773" y="1321163"/>
            <a:chExt cx="3478500" cy="1451100"/>
          </a:xfrm>
        </p:grpSpPr>
        <p:sp>
          <p:nvSpPr>
            <p:cNvPr id="213" name="Google Shape;213;p17"/>
            <p:cNvSpPr/>
            <p:nvPr/>
          </p:nvSpPr>
          <p:spPr>
            <a:xfrm>
              <a:off x="462773" y="1321163"/>
              <a:ext cx="3478500" cy="1451100"/>
            </a:xfrm>
            <a:prstGeom prst="roundRect">
              <a:avLst>
                <a:gd fmla="val 5634" name="adj"/>
              </a:avLst>
            </a:prstGeom>
            <a:solidFill>
              <a:schemeClr val="lt1"/>
            </a:solidFill>
            <a:ln cap="flat" cmpd="sng" w="11550">
              <a:solidFill>
                <a:srgbClr val="D1D5D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10825" lIns="110825" spcFirstLastPara="1" rIns="110825" wrap="square" tIns="110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97"/>
            </a:p>
          </p:txBody>
        </p:sp>
        <p:sp>
          <p:nvSpPr>
            <p:cNvPr id="214" name="Google Shape;214;p17"/>
            <p:cNvSpPr/>
            <p:nvPr/>
          </p:nvSpPr>
          <p:spPr>
            <a:xfrm>
              <a:off x="594355" y="1425225"/>
              <a:ext cx="2791500" cy="237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33"/>
                <a:buFont typeface="Arial"/>
                <a:buNone/>
              </a:pPr>
              <a:r>
                <a:rPr b="1" lang="en-US" sz="1336">
                  <a:solidFill>
                    <a:srgbClr val="1E3A8A"/>
                  </a:solidFill>
                </a:rPr>
                <a:t>Устойчивость к OCR шуму</a:t>
              </a:r>
              <a:endParaRPr b="1" sz="1336">
                <a:solidFill>
                  <a:srgbClr val="1E3A8A"/>
                </a:solidFill>
              </a:endParaRPr>
            </a:p>
          </p:txBody>
        </p:sp>
        <p:sp>
          <p:nvSpPr>
            <p:cNvPr id="215" name="Google Shape;215;p17"/>
            <p:cNvSpPr/>
            <p:nvPr/>
          </p:nvSpPr>
          <p:spPr>
            <a:xfrm>
              <a:off x="594363" y="1787938"/>
              <a:ext cx="3193200" cy="7608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475569"/>
                </a:buClr>
                <a:buSzPts val="1479"/>
                <a:buFont typeface="Arial"/>
                <a:buNone/>
              </a:pPr>
              <a:r>
                <a:rPr lang="en-US" sz="1279">
                  <a:solidFill>
                    <a:schemeClr val="dk1"/>
                  </a:solidFill>
                </a:rPr>
                <a:t>Используются </a:t>
              </a:r>
              <a:r>
                <a:rPr b="1" lang="en-US" sz="1279">
                  <a:solidFill>
                    <a:schemeClr val="dk1"/>
                  </a:solidFill>
                </a:rPr>
                <a:t>TF-IDF</a:t>
              </a:r>
              <a:r>
                <a:rPr lang="en-US" sz="1279">
                  <a:solidFill>
                    <a:schemeClr val="dk1"/>
                  </a:solidFill>
                </a:rPr>
                <a:t> признаки по символьным n-граммам, которые частично сохраняют сходство даже при ошибках распознавания.</a:t>
              </a:r>
              <a:endParaRPr sz="1279">
                <a:solidFill>
                  <a:schemeClr val="dk1"/>
                </a:solidFill>
              </a:endParaRPr>
            </a:p>
          </p:txBody>
        </p:sp>
      </p:grpSp>
      <p:grpSp>
        <p:nvGrpSpPr>
          <p:cNvPr id="216" name="Google Shape;216;p17"/>
          <p:cNvGrpSpPr/>
          <p:nvPr/>
        </p:nvGrpSpPr>
        <p:grpSpPr>
          <a:xfrm>
            <a:off x="6116063" y="957600"/>
            <a:ext cx="2649226" cy="2399539"/>
            <a:chOff x="462773" y="1321163"/>
            <a:chExt cx="3478500" cy="1451100"/>
          </a:xfrm>
        </p:grpSpPr>
        <p:sp>
          <p:nvSpPr>
            <p:cNvPr id="217" name="Google Shape;217;p17"/>
            <p:cNvSpPr/>
            <p:nvPr/>
          </p:nvSpPr>
          <p:spPr>
            <a:xfrm>
              <a:off x="462773" y="1321163"/>
              <a:ext cx="3478500" cy="1451100"/>
            </a:xfrm>
            <a:prstGeom prst="roundRect">
              <a:avLst>
                <a:gd fmla="val 5634" name="adj"/>
              </a:avLst>
            </a:prstGeom>
            <a:solidFill>
              <a:srgbClr val="F3F4F6"/>
            </a:solidFill>
            <a:ln cap="flat" cmpd="sng" w="9650">
              <a:solidFill>
                <a:srgbClr val="D1D5D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2700" lIns="92700" spcFirstLastPara="1" rIns="92700" wrap="square" tIns="92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20"/>
            </a:p>
          </p:txBody>
        </p:sp>
        <p:sp>
          <p:nvSpPr>
            <p:cNvPr id="218" name="Google Shape;218;p17"/>
            <p:cNvSpPr/>
            <p:nvPr/>
          </p:nvSpPr>
          <p:spPr>
            <a:xfrm>
              <a:off x="594355" y="1425225"/>
              <a:ext cx="2791500" cy="237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15"/>
                <a:buFont typeface="Arial"/>
                <a:buNone/>
              </a:pPr>
              <a:r>
                <a:rPr b="1" lang="en-US" sz="1300">
                  <a:solidFill>
                    <a:srgbClr val="1E3A8A"/>
                  </a:solidFill>
                </a:rPr>
                <a:t>Вычислительные ресурсы</a:t>
              </a:r>
              <a:endParaRPr b="1" sz="1300">
                <a:solidFill>
                  <a:srgbClr val="1E3A8A"/>
                </a:solidFill>
              </a:endParaRPr>
            </a:p>
          </p:txBody>
        </p:sp>
        <p:sp>
          <p:nvSpPr>
            <p:cNvPr id="219" name="Google Shape;219;p17"/>
            <p:cNvSpPr/>
            <p:nvPr/>
          </p:nvSpPr>
          <p:spPr>
            <a:xfrm>
              <a:off x="616375" y="1758410"/>
              <a:ext cx="3171300" cy="83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15"/>
                <a:buFont typeface="Arial"/>
                <a:buNone/>
              </a:pPr>
              <a:r>
                <a:rPr lang="en-US" sz="1237">
                  <a:solidFill>
                    <a:schemeClr val="dk1"/>
                  </a:solidFill>
                </a:rPr>
                <a:t>Сравнение учитывало требования к запуску: потребление VRAM в GB, возможность работы без GPU и пригодность для локального запуска.</a:t>
              </a:r>
              <a:endParaRPr sz="1237">
                <a:solidFill>
                  <a:schemeClr val="dk1"/>
                </a:solidFill>
              </a:endParaRPr>
            </a:p>
          </p:txBody>
        </p:sp>
      </p:grpSp>
      <p:graphicFrame>
        <p:nvGraphicFramePr>
          <p:cNvPr id="220" name="Google Shape;220;p17"/>
          <p:cNvGraphicFramePr/>
          <p:nvPr/>
        </p:nvGraphicFramePr>
        <p:xfrm>
          <a:off x="2405550" y="34194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{BDA16412-8DA7-4E10-A734-24902FDF6F4A}</a:tableStyleId>
              </a:tblPr>
              <a:tblGrid>
                <a:gridCol w="1758275"/>
                <a:gridCol w="1700600"/>
                <a:gridCol w="980000"/>
                <a:gridCol w="1441175"/>
                <a:gridCol w="1715025"/>
              </a:tblGrid>
              <a:tr h="966175">
                <a:tc>
                  <a:txBody>
                    <a:bodyPr/>
                    <a:lstStyle/>
                    <a:p>
                      <a:pPr indent="0" lvl="0" marL="635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Подход  </a:t>
                      </a:r>
                      <a:endParaRPr b="1" sz="1200"/>
                    </a:p>
                  </a:txBody>
                  <a:tcPr marT="0" marB="0" marR="91425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35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Реализация / модель  </a:t>
                      </a:r>
                      <a:endParaRPr b="1" sz="1200"/>
                    </a:p>
                  </a:txBody>
                  <a:tcPr marT="0" marB="0" marR="91425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35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Размер модели </a:t>
                      </a:r>
                      <a:endParaRPr b="1" sz="1200"/>
                    </a:p>
                  </a:txBody>
                  <a:tcPr marT="0" marB="0" marR="91425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35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Примерное пиковое потребление VRAM  </a:t>
                      </a:r>
                      <a:endParaRPr b="1" sz="1200"/>
                    </a:p>
                  </a:txBody>
                  <a:tcPr marT="0" marB="0" marR="91425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35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Accuracy</a:t>
                      </a:r>
                      <a:r>
                        <a:rPr b="1" lang="en-US" sz="1200"/>
                        <a:t>  </a:t>
                      </a:r>
                      <a:endParaRPr b="1" sz="1200"/>
                    </a:p>
                  </a:txBody>
                  <a:tcPr marT="0" marB="0" marR="91425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16825">
                <a:tc>
                  <a:txBody>
                    <a:bodyPr/>
                    <a:lstStyle/>
                    <a:p>
                      <a:pPr indent="0" lvl="0" marL="635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Классификация по правилам  </a:t>
                      </a:r>
                      <a:endParaRPr b="1" sz="1200"/>
                    </a:p>
                  </a:txBody>
                  <a:tcPr marT="0" marB="0" marR="91425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35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Заголовки, ключевые фразы, регулярные выражения  </a:t>
                      </a:r>
                      <a:endParaRPr sz="1200"/>
                    </a:p>
                  </a:txBody>
                  <a:tcPr marT="0" marB="0" marR="91425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35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- </a:t>
                      </a:r>
                      <a:endParaRPr sz="1200"/>
                    </a:p>
                  </a:txBody>
                  <a:tcPr marT="0" marB="0" marR="91425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35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0 GB  </a:t>
                      </a:r>
                      <a:endParaRPr sz="1200"/>
                    </a:p>
                  </a:txBody>
                  <a:tcPr marT="0" marB="0" marR="91425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35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75–85% </a:t>
                      </a:r>
                      <a:endParaRPr sz="1200"/>
                    </a:p>
                  </a:txBody>
                  <a:tcPr marT="0" marB="0" marR="91425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12250">
                <a:tc>
                  <a:txBody>
                    <a:bodyPr/>
                    <a:lstStyle/>
                    <a:p>
                      <a:pPr indent="0" lvl="0" marL="635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Статистическое сравнение с эталонами  </a:t>
                      </a:r>
                      <a:endParaRPr b="1" sz="1200"/>
                    </a:p>
                  </a:txBody>
                  <a:tcPr marT="0" marB="0" marR="91425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35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TF-IDF + cosine similarity  </a:t>
                      </a:r>
                      <a:endParaRPr sz="1200"/>
                    </a:p>
                  </a:txBody>
                  <a:tcPr marT="0" marB="0" marR="91425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35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- </a:t>
                      </a:r>
                      <a:endParaRPr sz="1200"/>
                    </a:p>
                  </a:txBody>
                  <a:tcPr marT="0" marB="0" marR="91425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35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0 GB  </a:t>
                      </a:r>
                      <a:endParaRPr sz="1200"/>
                    </a:p>
                  </a:txBody>
                  <a:tcPr marT="0" marB="0" marR="91425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35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80–88% </a:t>
                      </a:r>
                      <a:endParaRPr sz="1200"/>
                    </a:p>
                  </a:txBody>
                  <a:tcPr marT="0" marB="0" marR="91425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12250">
                <a:tc>
                  <a:txBody>
                    <a:bodyPr/>
                    <a:lstStyle/>
                    <a:p>
                      <a:pPr indent="0" lvl="0" marL="635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Гибридный подход  </a:t>
                      </a:r>
                      <a:endParaRPr b="1" sz="1200"/>
                    </a:p>
                  </a:txBody>
                  <a:tcPr marT="0" marB="0" marR="91425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Правила + TF-IDF + cosine similarity  </a:t>
                      </a:r>
                      <a:endParaRPr sz="1200"/>
                    </a:p>
                  </a:txBody>
                  <a:tcPr marT="0" marB="0" marR="91425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635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- </a:t>
                      </a:r>
                      <a:endParaRPr sz="1200"/>
                    </a:p>
                  </a:txBody>
                  <a:tcPr marT="0" marB="0" marR="91425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635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0 GB  </a:t>
                      </a:r>
                      <a:endParaRPr sz="1200"/>
                    </a:p>
                  </a:txBody>
                  <a:tcPr marT="0" marB="0" marR="91425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635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82–93% </a:t>
                      </a:r>
                      <a:endParaRPr sz="1200"/>
                    </a:p>
                  </a:txBody>
                  <a:tcPr marT="0" marB="0" marR="91425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</a:tr>
            </a:tbl>
          </a:graphicData>
        </a:graphic>
      </p:graphicFrame>
      <p:grpSp>
        <p:nvGrpSpPr>
          <p:cNvPr id="221" name="Google Shape;221;p17"/>
          <p:cNvGrpSpPr/>
          <p:nvPr/>
        </p:nvGrpSpPr>
        <p:grpSpPr>
          <a:xfrm>
            <a:off x="9006478" y="957604"/>
            <a:ext cx="2649226" cy="2399539"/>
            <a:chOff x="12334496" y="2730539"/>
            <a:chExt cx="3478500" cy="1451100"/>
          </a:xfrm>
        </p:grpSpPr>
        <p:sp>
          <p:nvSpPr>
            <p:cNvPr id="222" name="Google Shape;222;p17"/>
            <p:cNvSpPr/>
            <p:nvPr/>
          </p:nvSpPr>
          <p:spPr>
            <a:xfrm>
              <a:off x="12334496" y="2730539"/>
              <a:ext cx="3478500" cy="1451100"/>
            </a:xfrm>
            <a:prstGeom prst="roundRect">
              <a:avLst>
                <a:gd fmla="val 5634" name="adj"/>
              </a:avLst>
            </a:prstGeom>
            <a:solidFill>
              <a:schemeClr val="lt1"/>
            </a:solidFill>
            <a:ln cap="flat" cmpd="sng" w="9850">
              <a:solidFill>
                <a:srgbClr val="D1D5D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4500" lIns="94500" spcFirstLastPara="1" rIns="94500" wrap="square" tIns="94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8"/>
            </a:p>
          </p:txBody>
        </p:sp>
        <p:sp>
          <p:nvSpPr>
            <p:cNvPr id="223" name="Google Shape;223;p17"/>
            <p:cNvSpPr/>
            <p:nvPr/>
          </p:nvSpPr>
          <p:spPr>
            <a:xfrm>
              <a:off x="12488085" y="2769477"/>
              <a:ext cx="2791500" cy="237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37"/>
                <a:buFont typeface="Arial"/>
                <a:buNone/>
              </a:pPr>
              <a:r>
                <a:rPr b="1" lang="en-US" sz="1310">
                  <a:solidFill>
                    <a:srgbClr val="1E3A8A"/>
                  </a:solidFill>
                </a:rPr>
                <a:t>Расчет качества</a:t>
              </a:r>
              <a:endParaRPr b="1" sz="1310">
                <a:solidFill>
                  <a:srgbClr val="1E3A8A"/>
                </a:solidFill>
              </a:endParaRPr>
            </a:p>
          </p:txBody>
        </p:sp>
        <p:sp>
          <p:nvSpPr>
            <p:cNvPr id="224" name="Google Shape;224;p17"/>
            <p:cNvSpPr/>
            <p:nvPr/>
          </p:nvSpPr>
          <p:spPr>
            <a:xfrm>
              <a:off x="12488115" y="3034723"/>
              <a:ext cx="3171300" cy="945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475569"/>
                </a:buClr>
                <a:buSzPts val="1261"/>
                <a:buFont typeface="Arial"/>
                <a:buNone/>
              </a:pPr>
              <a:r>
                <a:rPr lang="en-US" sz="1291">
                  <a:solidFill>
                    <a:schemeClr val="dk1"/>
                  </a:solidFill>
                </a:rPr>
                <a:t>Качество считалось по метрике </a:t>
              </a:r>
              <a:r>
                <a:rPr b="1" lang="en-US" sz="1291">
                  <a:solidFill>
                    <a:schemeClr val="dk1"/>
                  </a:solidFill>
                </a:rPr>
                <a:t>Accuracy</a:t>
              </a:r>
              <a:r>
                <a:rPr lang="en-US" sz="1291">
                  <a:solidFill>
                    <a:schemeClr val="dk1"/>
                  </a:solidFill>
                </a:rPr>
                <a:t>: доля документов, где предсказанный класс совпал с известным типом. Для методов с оценками по классам итоговый класс выбирался по максимальному значению score.</a:t>
              </a:r>
              <a:endParaRPr b="0" i="0" sz="1291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25" name="Google Shape;225;p17"/>
          <p:cNvSpPr txBox="1"/>
          <p:nvPr/>
        </p:nvSpPr>
        <p:spPr>
          <a:xfrm>
            <a:off x="11773800" y="6457800"/>
            <a:ext cx="418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13</a:t>
            </a:r>
            <a:endParaRPr/>
          </a:p>
        </p:txBody>
      </p:sp>
      <p:sp>
        <p:nvSpPr>
          <p:cNvPr id="226" name="Google Shape;226;p17"/>
          <p:cNvSpPr txBox="1"/>
          <p:nvPr/>
        </p:nvSpPr>
        <p:spPr>
          <a:xfrm>
            <a:off x="10057275" y="5865550"/>
            <a:ext cx="19608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*полная таблица </a:t>
            </a:r>
            <a:r>
              <a:rPr lang="en-US">
                <a:solidFill>
                  <a:schemeClr val="dk1"/>
                </a:solidFill>
              </a:rPr>
              <a:t>будет </a:t>
            </a:r>
            <a:r>
              <a:rPr lang="en-US"/>
              <a:t>представлена  позже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8"/>
          <p:cNvSpPr/>
          <p:nvPr/>
        </p:nvSpPr>
        <p:spPr>
          <a:xfrm>
            <a:off x="594360" y="231028"/>
            <a:ext cx="107898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Оценка сравнения классификации документов</a:t>
            </a:r>
            <a:endParaRPr sz="2400">
              <a:solidFill>
                <a:srgbClr val="1E3A8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3" name="Google Shape;233;p18"/>
          <p:cNvCxnSpPr/>
          <p:nvPr/>
        </p:nvCxnSpPr>
        <p:spPr>
          <a:xfrm>
            <a:off x="632410" y="780299"/>
            <a:ext cx="10927200" cy="0"/>
          </a:xfrm>
          <a:prstGeom prst="straightConnector1">
            <a:avLst/>
          </a:prstGeom>
          <a:noFill/>
          <a:ln cap="flat" cmpd="sng" w="15225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4" name="Google Shape;234;p18"/>
          <p:cNvSpPr txBox="1"/>
          <p:nvPr/>
        </p:nvSpPr>
        <p:spPr>
          <a:xfrm>
            <a:off x="1629125" y="829050"/>
            <a:ext cx="19512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/>
              <a:t>Гибридный подход</a:t>
            </a:r>
            <a:endParaRPr sz="1500"/>
          </a:p>
        </p:txBody>
      </p:sp>
      <p:sp>
        <p:nvSpPr>
          <p:cNvPr id="235" name="Google Shape;235;p18"/>
          <p:cNvSpPr txBox="1"/>
          <p:nvPr/>
        </p:nvSpPr>
        <p:spPr>
          <a:xfrm>
            <a:off x="8142075" y="829050"/>
            <a:ext cx="12426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/>
              <a:t>LLM подход</a:t>
            </a:r>
            <a:endParaRPr sz="1500"/>
          </a:p>
        </p:txBody>
      </p:sp>
      <p:pic>
        <p:nvPicPr>
          <p:cNvPr id="236" name="Google Shape;236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1700" y="1192100"/>
            <a:ext cx="5419009" cy="566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51550" y="1192100"/>
            <a:ext cx="6140275" cy="5665899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18"/>
          <p:cNvSpPr txBox="1"/>
          <p:nvPr/>
        </p:nvSpPr>
        <p:spPr>
          <a:xfrm>
            <a:off x="11764925" y="6457800"/>
            <a:ext cx="426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14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9"/>
          <p:cNvSpPr/>
          <p:nvPr/>
        </p:nvSpPr>
        <p:spPr>
          <a:xfrm>
            <a:off x="633380" y="0"/>
            <a:ext cx="11141400" cy="114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1E3A8A"/>
                </a:solidFill>
              </a:rPr>
              <a:t>Построение промпта для LLM</a:t>
            </a:r>
            <a:endParaRPr b="1" sz="2400">
              <a:solidFill>
                <a:srgbClr val="1E3A8A"/>
              </a:solidFill>
            </a:endParaRPr>
          </a:p>
        </p:txBody>
      </p:sp>
      <p:cxnSp>
        <p:nvCxnSpPr>
          <p:cNvPr id="245" name="Google Shape;245;p19"/>
          <p:cNvCxnSpPr/>
          <p:nvPr/>
        </p:nvCxnSpPr>
        <p:spPr>
          <a:xfrm>
            <a:off x="642165" y="809574"/>
            <a:ext cx="10927200" cy="0"/>
          </a:xfrm>
          <a:prstGeom prst="straightConnector1">
            <a:avLst/>
          </a:prstGeom>
          <a:noFill/>
          <a:ln cap="flat" cmpd="sng" w="15225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246" name="Google Shape;246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97450" y="985100"/>
            <a:ext cx="5292300" cy="572657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47" name="Google Shape;247;p19"/>
          <p:cNvGraphicFramePr/>
          <p:nvPr/>
        </p:nvGraphicFramePr>
        <p:xfrm>
          <a:off x="396450" y="985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{78887D41-1FAD-4C7D-B81F-CF3FCBB7B7C2}</a:tableStyleId>
              </a:tblPr>
              <a:tblGrid>
                <a:gridCol w="2646150"/>
                <a:gridCol w="2646150"/>
              </a:tblGrid>
              <a:tr h="899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Компонент промпта</a:t>
                      </a:r>
                      <a:endParaRPr b="1" sz="12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Назначение</a:t>
                      </a:r>
                      <a:endParaRPr b="1" sz="12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48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Инструкция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объясняет задачу извлечения данных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34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Тип документа из классификации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определяет схему полей и набор правил для конкретного класса документа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48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JSON-схема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задает строгую структуру ответа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48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Правила извлечения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запрещают выдумывать поля и OCR-мусор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48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Предварительный JSON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передает результат rule-based этапа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48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Примеры XML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показывают ожидаемую структуру результата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48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OCR-текст документа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основной источник данных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48" name="Google Shape;248;p19"/>
          <p:cNvSpPr txBox="1"/>
          <p:nvPr/>
        </p:nvSpPr>
        <p:spPr>
          <a:xfrm>
            <a:off x="11774775" y="6457800"/>
            <a:ext cx="417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15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0"/>
          <p:cNvSpPr/>
          <p:nvPr/>
        </p:nvSpPr>
        <p:spPr>
          <a:xfrm>
            <a:off x="633380" y="0"/>
            <a:ext cx="11141400" cy="114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rgbClr val="1E3A8A"/>
                </a:solidFill>
              </a:rPr>
              <a:t>Анализ применения моделей нейронных сетей для задачи поиска ключевых данных в тексте</a:t>
            </a:r>
            <a:endParaRPr b="1" sz="2400">
              <a:solidFill>
                <a:srgbClr val="1E3A8A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2400"/>
              <a:buFont typeface="Arial"/>
              <a:buNone/>
            </a:pPr>
            <a:r>
              <a:t/>
            </a:r>
            <a:endParaRPr b="1" sz="2400">
              <a:solidFill>
                <a:srgbClr val="1E3A8A"/>
              </a:solidFill>
            </a:endParaRPr>
          </a:p>
        </p:txBody>
      </p:sp>
      <p:cxnSp>
        <p:nvCxnSpPr>
          <p:cNvPr id="255" name="Google Shape;255;p20"/>
          <p:cNvCxnSpPr/>
          <p:nvPr/>
        </p:nvCxnSpPr>
        <p:spPr>
          <a:xfrm>
            <a:off x="632390" y="780324"/>
            <a:ext cx="10927200" cy="0"/>
          </a:xfrm>
          <a:prstGeom prst="straightConnector1">
            <a:avLst/>
          </a:prstGeom>
          <a:noFill/>
          <a:ln cap="flat" cmpd="sng" w="15225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56" name="Google Shape;256;p20"/>
          <p:cNvGrpSpPr/>
          <p:nvPr/>
        </p:nvGrpSpPr>
        <p:grpSpPr>
          <a:xfrm>
            <a:off x="126773" y="847526"/>
            <a:ext cx="2909334" cy="1785561"/>
            <a:chOff x="462779" y="1321163"/>
            <a:chExt cx="3324953" cy="1672500"/>
          </a:xfrm>
        </p:grpSpPr>
        <p:sp>
          <p:nvSpPr>
            <p:cNvPr id="257" name="Google Shape;257;p20"/>
            <p:cNvSpPr/>
            <p:nvPr/>
          </p:nvSpPr>
          <p:spPr>
            <a:xfrm>
              <a:off x="462779" y="1321163"/>
              <a:ext cx="3324900" cy="1672500"/>
            </a:xfrm>
            <a:prstGeom prst="roundRect">
              <a:avLst>
                <a:gd fmla="val 5634" name="adj"/>
              </a:avLst>
            </a:prstGeom>
            <a:solidFill>
              <a:srgbClr val="F3F4F6"/>
            </a:solidFill>
            <a:ln cap="flat" cmpd="sng" w="9525">
              <a:solidFill>
                <a:srgbClr val="D1D5D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" name="Google Shape;258;p20"/>
            <p:cNvSpPr/>
            <p:nvPr/>
          </p:nvSpPr>
          <p:spPr>
            <a:xfrm>
              <a:off x="616384" y="1400063"/>
              <a:ext cx="2791500" cy="237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-US" sz="1350">
                  <a:solidFill>
                    <a:srgbClr val="1E3A8A"/>
                  </a:solidFill>
                </a:rPr>
                <a:t>Структурное извлечение</a:t>
              </a:r>
              <a:endParaRPr b="1" sz="1350">
                <a:solidFill>
                  <a:srgbClr val="1E3A8A"/>
                </a:solidFill>
              </a:endParaRPr>
            </a:p>
          </p:txBody>
        </p:sp>
        <p:sp>
          <p:nvSpPr>
            <p:cNvPr id="259" name="Google Shape;259;p20"/>
            <p:cNvSpPr/>
            <p:nvPr/>
          </p:nvSpPr>
          <p:spPr>
            <a:xfrm>
              <a:off x="616432" y="1687290"/>
              <a:ext cx="3171300" cy="94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475569"/>
                </a:buClr>
                <a:buSzPts val="1220"/>
                <a:buFont typeface="Arial"/>
                <a:buNone/>
              </a:pPr>
              <a:r>
                <a:rPr lang="en-US" sz="1220">
                  <a:solidFill>
                    <a:schemeClr val="dk1"/>
                  </a:solidFill>
                </a:rPr>
                <a:t>Модель должна не просто найти отдельные слова, а восстановить конкретные XML-поля: суд, стороны, номер дела, даты, суммы и предмет спора</a:t>
              </a:r>
              <a:r>
                <a:rPr lang="en-US" sz="1220">
                  <a:solidFill>
                    <a:schemeClr val="dk1"/>
                  </a:solidFill>
                </a:rPr>
                <a:t>.</a:t>
              </a:r>
              <a:endParaRPr b="0" i="0" sz="122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60" name="Google Shape;260;p20"/>
          <p:cNvGrpSpPr/>
          <p:nvPr/>
        </p:nvGrpSpPr>
        <p:grpSpPr>
          <a:xfrm>
            <a:off x="3156849" y="847528"/>
            <a:ext cx="2909417" cy="1785579"/>
            <a:chOff x="462773" y="1321163"/>
            <a:chExt cx="3478500" cy="1451100"/>
          </a:xfrm>
        </p:grpSpPr>
        <p:sp>
          <p:nvSpPr>
            <p:cNvPr id="261" name="Google Shape;261;p20"/>
            <p:cNvSpPr/>
            <p:nvPr/>
          </p:nvSpPr>
          <p:spPr>
            <a:xfrm>
              <a:off x="462773" y="1321163"/>
              <a:ext cx="3478500" cy="1451100"/>
            </a:xfrm>
            <a:prstGeom prst="roundRect">
              <a:avLst>
                <a:gd fmla="val 5634" name="adj"/>
              </a:avLst>
            </a:prstGeom>
            <a:solidFill>
              <a:schemeClr val="lt1"/>
            </a:solidFill>
            <a:ln cap="flat" cmpd="sng" w="9525">
              <a:solidFill>
                <a:srgbClr val="D1D5D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" name="Google Shape;262;p20"/>
            <p:cNvSpPr/>
            <p:nvPr/>
          </p:nvSpPr>
          <p:spPr>
            <a:xfrm>
              <a:off x="594355" y="1421578"/>
              <a:ext cx="2791500" cy="237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-US" sz="1350">
                  <a:solidFill>
                    <a:srgbClr val="1E3A8A"/>
                  </a:solidFill>
                </a:rPr>
                <a:t>Стабильность JSON/XML</a:t>
              </a:r>
              <a:endParaRPr b="1" sz="1350">
                <a:solidFill>
                  <a:srgbClr val="1E3A8A"/>
                </a:solidFill>
              </a:endParaRPr>
            </a:p>
          </p:txBody>
        </p:sp>
        <p:sp>
          <p:nvSpPr>
            <p:cNvPr id="263" name="Google Shape;263;p20"/>
            <p:cNvSpPr/>
            <p:nvPr/>
          </p:nvSpPr>
          <p:spPr>
            <a:xfrm>
              <a:off x="605407" y="1668809"/>
              <a:ext cx="3193200" cy="7608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475569"/>
                </a:buClr>
                <a:buSzPts val="1220"/>
                <a:buFont typeface="Arial"/>
                <a:buNone/>
              </a:pPr>
              <a:r>
                <a:rPr lang="en-US" sz="1220">
                  <a:solidFill>
                    <a:schemeClr val="dk1"/>
                  </a:solidFill>
                </a:rPr>
                <a:t>Сравнение учитывало способность модели возвращать строгий JSON без лишнего текста, чтобы результат можно было автоматически преобразовать в XML</a:t>
              </a:r>
              <a:r>
                <a:rPr lang="en-US" sz="1220">
                  <a:solidFill>
                    <a:schemeClr val="dk1"/>
                  </a:solidFill>
                </a:rPr>
                <a:t>.</a:t>
              </a:r>
              <a:endParaRPr sz="1220">
                <a:solidFill>
                  <a:schemeClr val="dk1"/>
                </a:solidFill>
              </a:endParaRPr>
            </a:p>
          </p:txBody>
        </p:sp>
      </p:grpSp>
      <p:grpSp>
        <p:nvGrpSpPr>
          <p:cNvPr id="264" name="Google Shape;264;p20"/>
          <p:cNvGrpSpPr/>
          <p:nvPr/>
        </p:nvGrpSpPr>
        <p:grpSpPr>
          <a:xfrm>
            <a:off x="6186990" y="847528"/>
            <a:ext cx="2909417" cy="1785579"/>
            <a:chOff x="462773" y="1321163"/>
            <a:chExt cx="3478500" cy="1451100"/>
          </a:xfrm>
        </p:grpSpPr>
        <p:sp>
          <p:nvSpPr>
            <p:cNvPr id="265" name="Google Shape;265;p20"/>
            <p:cNvSpPr/>
            <p:nvPr/>
          </p:nvSpPr>
          <p:spPr>
            <a:xfrm>
              <a:off x="462773" y="1321163"/>
              <a:ext cx="3478500" cy="1451100"/>
            </a:xfrm>
            <a:prstGeom prst="roundRect">
              <a:avLst>
                <a:gd fmla="val 5634" name="adj"/>
              </a:avLst>
            </a:prstGeom>
            <a:solidFill>
              <a:srgbClr val="F3F4F6"/>
            </a:solidFill>
            <a:ln cap="flat" cmpd="sng" w="9525">
              <a:solidFill>
                <a:srgbClr val="D1D5D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" name="Google Shape;266;p20"/>
            <p:cNvSpPr/>
            <p:nvPr/>
          </p:nvSpPr>
          <p:spPr>
            <a:xfrm>
              <a:off x="616384" y="1383006"/>
              <a:ext cx="2791500" cy="237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-US" sz="1350">
                  <a:solidFill>
                    <a:srgbClr val="1E3A8A"/>
                  </a:solidFill>
                </a:rPr>
                <a:t>Вычислительные ресурсы</a:t>
              </a:r>
              <a:endParaRPr b="1" sz="1350">
                <a:solidFill>
                  <a:srgbClr val="1E3A8A"/>
                </a:solidFill>
              </a:endParaRPr>
            </a:p>
          </p:txBody>
        </p:sp>
        <p:sp>
          <p:nvSpPr>
            <p:cNvPr id="267" name="Google Shape;267;p20"/>
            <p:cNvSpPr/>
            <p:nvPr/>
          </p:nvSpPr>
          <p:spPr>
            <a:xfrm>
              <a:off x="616375" y="1629621"/>
              <a:ext cx="3171300" cy="83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1220">
                  <a:solidFill>
                    <a:schemeClr val="dk1"/>
                  </a:solidFill>
                </a:rPr>
                <a:t>Оценивались размер модели, примерное потребление VRAM в GB и возможность запуска в Google Colab / локальной среде.</a:t>
              </a:r>
              <a:endParaRPr sz="1220">
                <a:solidFill>
                  <a:schemeClr val="dk1"/>
                </a:solidFill>
              </a:endParaRPr>
            </a:p>
          </p:txBody>
        </p:sp>
      </p:grpSp>
      <p:graphicFrame>
        <p:nvGraphicFramePr>
          <p:cNvPr id="268" name="Google Shape;268;p20"/>
          <p:cNvGraphicFramePr/>
          <p:nvPr/>
        </p:nvGraphicFramePr>
        <p:xfrm>
          <a:off x="2523475" y="2671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{BDA16412-8DA7-4E10-A734-24902FDF6F4A}</a:tableStyleId>
              </a:tblPr>
              <a:tblGrid>
                <a:gridCol w="2186525"/>
                <a:gridCol w="1353050"/>
                <a:gridCol w="2368575"/>
                <a:gridCol w="2231425"/>
              </a:tblGrid>
              <a:tr h="766125">
                <a:tc>
                  <a:txBody>
                    <a:bodyPr/>
                    <a:lstStyle/>
                    <a:p>
                      <a:pPr indent="0" lvl="0" marL="635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Модель  </a:t>
                      </a:r>
                      <a:endParaRPr b="1"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35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Размер </a:t>
                      </a:r>
                      <a:endParaRPr b="1"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35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Примерное пиковое потребление VRAM  </a:t>
                      </a:r>
                      <a:endParaRPr b="1"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35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Оценка качества извлечения ключевых полей  </a:t>
                      </a:r>
                      <a:endParaRPr b="1"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450">
                <a:tc>
                  <a:txBody>
                    <a:bodyPr/>
                    <a:lstStyle/>
                    <a:p>
                      <a:pPr indent="0" lvl="0" marL="635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Qwen2.5-3B-Instruct </a:t>
                      </a:r>
                      <a:endParaRPr b="1"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635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3B 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635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11–15GB 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635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84–86% 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</a:tr>
              <a:tr h="370450">
                <a:tc>
                  <a:txBody>
                    <a:bodyPr/>
                    <a:lstStyle/>
                    <a:p>
                      <a:pPr indent="0" lvl="0" marL="635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Qwen3-VL-4B-Instruct </a:t>
                      </a:r>
                      <a:endParaRPr b="1"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35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4B 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35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13–16 GB 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35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86–88% 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450">
                <a:tc>
                  <a:txBody>
                    <a:bodyPr/>
                    <a:lstStyle/>
                    <a:p>
                      <a:pPr indent="0" lvl="0" marL="635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Qwen2.5-7B-Instruct </a:t>
                      </a:r>
                      <a:endParaRPr b="1"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35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7B 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35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18-24 GB  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35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92–95% 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450">
                <a:tc>
                  <a:txBody>
                    <a:bodyPr/>
                    <a:lstStyle/>
                    <a:p>
                      <a:pPr indent="0" lvl="0" marL="635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Llama-3.1-8B-Instruct </a:t>
                      </a:r>
                      <a:endParaRPr b="1"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35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8B 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35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18-24 GB 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35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87-90% 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450">
                <a:tc>
                  <a:txBody>
                    <a:bodyPr/>
                    <a:lstStyle/>
                    <a:p>
                      <a:pPr indent="0" lvl="0" marL="635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Qwen3-VL-8B </a:t>
                      </a:r>
                      <a:endParaRPr b="1"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35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7B 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35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18-24 GB 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35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93-96% 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8275">
                <a:tc>
                  <a:txBody>
                    <a:bodyPr/>
                    <a:lstStyle/>
                    <a:p>
                      <a:pPr indent="0" lvl="0" marL="63500" marR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Qwen3-VL-30B-A3B-Instruct </a:t>
                      </a:r>
                      <a:endParaRPr b="1"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35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30B всего, 3B активных 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35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36+GB с 4bit и 68+GB без cжатия 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35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95-100% 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66125">
                <a:tc>
                  <a:txBody>
                    <a:bodyPr/>
                    <a:lstStyle/>
                    <a:p>
                      <a:pPr indent="0" lvl="0" marL="635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DeepSeek-R1 </a:t>
                      </a:r>
                      <a:endParaRPr b="1"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35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671B всего  </a:t>
                      </a:r>
                      <a:br>
                        <a:rPr lang="en-US" sz="1200"/>
                      </a:br>
                      <a:r>
                        <a:rPr lang="en-US" sz="1200"/>
                        <a:t>37B активных 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35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400 GB+ VRAM полная, </a:t>
                      </a:r>
                      <a:endParaRPr sz="1200"/>
                    </a:p>
                    <a:p>
                      <a:pPr indent="0" lvl="0" marL="635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80–128 GB VRAM - с сжатием до 70B 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35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81–84% 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269" name="Google Shape;269;p20"/>
          <p:cNvGrpSpPr/>
          <p:nvPr/>
        </p:nvGrpSpPr>
        <p:grpSpPr>
          <a:xfrm>
            <a:off x="9190149" y="847529"/>
            <a:ext cx="2909417" cy="1785579"/>
            <a:chOff x="462773" y="1321163"/>
            <a:chExt cx="3478500" cy="1451100"/>
          </a:xfrm>
        </p:grpSpPr>
        <p:sp>
          <p:nvSpPr>
            <p:cNvPr id="270" name="Google Shape;270;p20"/>
            <p:cNvSpPr/>
            <p:nvPr/>
          </p:nvSpPr>
          <p:spPr>
            <a:xfrm>
              <a:off x="462773" y="1321163"/>
              <a:ext cx="3478500" cy="1451100"/>
            </a:xfrm>
            <a:prstGeom prst="roundRect">
              <a:avLst>
                <a:gd fmla="val 5634" name="adj"/>
              </a:avLst>
            </a:prstGeom>
            <a:solidFill>
              <a:schemeClr val="lt1"/>
            </a:solidFill>
            <a:ln cap="flat" cmpd="sng" w="9525">
              <a:solidFill>
                <a:srgbClr val="D1D5D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" name="Google Shape;271;p20"/>
            <p:cNvSpPr/>
            <p:nvPr/>
          </p:nvSpPr>
          <p:spPr>
            <a:xfrm>
              <a:off x="568291" y="1366966"/>
              <a:ext cx="2791500" cy="237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-US" sz="1350">
                  <a:solidFill>
                    <a:srgbClr val="1E3A8A"/>
                  </a:solidFill>
                </a:rPr>
                <a:t>Расчет качества</a:t>
              </a:r>
              <a:endParaRPr b="1" sz="1350">
                <a:solidFill>
                  <a:srgbClr val="1E3A8A"/>
                </a:solidFill>
              </a:endParaRPr>
            </a:p>
          </p:txBody>
        </p:sp>
        <p:sp>
          <p:nvSpPr>
            <p:cNvPr id="272" name="Google Shape;272;p20"/>
            <p:cNvSpPr/>
            <p:nvPr/>
          </p:nvSpPr>
          <p:spPr>
            <a:xfrm>
              <a:off x="568282" y="1629578"/>
              <a:ext cx="3171300" cy="8391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1220">
                  <a:solidFill>
                    <a:schemeClr val="dk1"/>
                  </a:solidFill>
                </a:rPr>
                <a:t>Сформированный XML сравнивался с эталонной XML-разметкой по отдельным полям. Корректные, ошибочные и пропущенные поля использовались для расчета Precision, Recall, F1-score и Field Accuracy.</a:t>
              </a:r>
              <a:endParaRPr sz="1220">
                <a:solidFill>
                  <a:schemeClr val="dk1"/>
                </a:solidFill>
              </a:endParaRPr>
            </a:p>
          </p:txBody>
        </p:sp>
      </p:grpSp>
      <p:sp>
        <p:nvSpPr>
          <p:cNvPr id="273" name="Google Shape;273;p20"/>
          <p:cNvSpPr txBox="1"/>
          <p:nvPr/>
        </p:nvSpPr>
        <p:spPr>
          <a:xfrm>
            <a:off x="11774775" y="6457800"/>
            <a:ext cx="417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16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9" name="Google Shape;279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92200" y="1657375"/>
            <a:ext cx="5899775" cy="426414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" name="Google Shape;280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657375"/>
            <a:ext cx="6292201" cy="3862374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21"/>
          <p:cNvSpPr/>
          <p:nvPr/>
        </p:nvSpPr>
        <p:spPr>
          <a:xfrm>
            <a:off x="594360" y="338328"/>
            <a:ext cx="107898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1E3A8A"/>
                </a:solidFill>
              </a:rPr>
              <a:t>Результат работы разработанного конвейера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2" name="Google Shape;282;p21"/>
          <p:cNvCxnSpPr/>
          <p:nvPr/>
        </p:nvCxnSpPr>
        <p:spPr>
          <a:xfrm>
            <a:off x="594360" y="877824"/>
            <a:ext cx="10927200" cy="0"/>
          </a:xfrm>
          <a:prstGeom prst="straightConnector1">
            <a:avLst/>
          </a:prstGeom>
          <a:noFill/>
          <a:ln cap="flat" cmpd="sng" w="15225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3" name="Google Shape;283;p21"/>
          <p:cNvSpPr txBox="1"/>
          <p:nvPr/>
        </p:nvSpPr>
        <p:spPr>
          <a:xfrm>
            <a:off x="1495800" y="1173175"/>
            <a:ext cx="3300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Извлечение размеченное заказчиком</a:t>
            </a:r>
            <a:endParaRPr/>
          </a:p>
        </p:txBody>
      </p:sp>
      <p:sp>
        <p:nvSpPr>
          <p:cNvPr id="284" name="Google Shape;284;p21"/>
          <p:cNvSpPr txBox="1"/>
          <p:nvPr/>
        </p:nvSpPr>
        <p:spPr>
          <a:xfrm>
            <a:off x="7052088" y="1173175"/>
            <a:ext cx="43800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Извлечение с помощью разработанного решения</a:t>
            </a:r>
            <a:endParaRPr/>
          </a:p>
        </p:txBody>
      </p:sp>
      <p:sp>
        <p:nvSpPr>
          <p:cNvPr id="285" name="Google Shape;285;p21"/>
          <p:cNvSpPr txBox="1"/>
          <p:nvPr/>
        </p:nvSpPr>
        <p:spPr>
          <a:xfrm>
            <a:off x="11755175" y="6457800"/>
            <a:ext cx="436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17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22"/>
          <p:cNvSpPr/>
          <p:nvPr/>
        </p:nvSpPr>
        <p:spPr>
          <a:xfrm>
            <a:off x="594360" y="338328"/>
            <a:ext cx="107898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1E3A8A"/>
                </a:solidFill>
              </a:rPr>
              <a:t>Результат работы разработанного конвейера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92" name="Google Shape;292;p22"/>
          <p:cNvCxnSpPr/>
          <p:nvPr/>
        </p:nvCxnSpPr>
        <p:spPr>
          <a:xfrm>
            <a:off x="594360" y="877824"/>
            <a:ext cx="10927200" cy="0"/>
          </a:xfrm>
          <a:prstGeom prst="straightConnector1">
            <a:avLst/>
          </a:prstGeom>
          <a:noFill/>
          <a:ln cap="flat" cmpd="sng" w="15225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3" name="Google Shape;293;p22"/>
          <p:cNvSpPr txBox="1"/>
          <p:nvPr/>
        </p:nvSpPr>
        <p:spPr>
          <a:xfrm>
            <a:off x="1495800" y="1173175"/>
            <a:ext cx="3300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Извлечение размеченное заказчиком</a:t>
            </a:r>
            <a:endParaRPr/>
          </a:p>
        </p:txBody>
      </p:sp>
      <p:sp>
        <p:nvSpPr>
          <p:cNvPr id="294" name="Google Shape;294;p22"/>
          <p:cNvSpPr txBox="1"/>
          <p:nvPr/>
        </p:nvSpPr>
        <p:spPr>
          <a:xfrm>
            <a:off x="7052088" y="1173175"/>
            <a:ext cx="43800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Извлечение с помощью разработанного решения</a:t>
            </a:r>
            <a:endParaRPr/>
          </a:p>
        </p:txBody>
      </p:sp>
      <p:sp>
        <p:nvSpPr>
          <p:cNvPr id="295" name="Google Shape;295;p22"/>
          <p:cNvSpPr txBox="1"/>
          <p:nvPr/>
        </p:nvSpPr>
        <p:spPr>
          <a:xfrm>
            <a:off x="11755175" y="6457800"/>
            <a:ext cx="436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17</a:t>
            </a:r>
            <a:endParaRPr/>
          </a:p>
        </p:txBody>
      </p:sp>
      <p:pic>
        <p:nvPicPr>
          <p:cNvPr id="296" name="Google Shape;296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2" y="1584775"/>
            <a:ext cx="6350726" cy="3882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7" name="Google Shape;297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50725" y="1584775"/>
            <a:ext cx="5841274" cy="4268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23"/>
          <p:cNvSpPr/>
          <p:nvPr/>
        </p:nvSpPr>
        <p:spPr>
          <a:xfrm>
            <a:off x="594360" y="338328"/>
            <a:ext cx="10789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Оценка извлечения XML-полей</a:t>
            </a:r>
            <a:endParaRPr sz="2400">
              <a:solidFill>
                <a:srgbClr val="1E3A8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04" name="Google Shape;304;p23"/>
          <p:cNvCxnSpPr/>
          <p:nvPr/>
        </p:nvCxnSpPr>
        <p:spPr>
          <a:xfrm>
            <a:off x="594360" y="877824"/>
            <a:ext cx="10927080" cy="0"/>
          </a:xfrm>
          <a:prstGeom prst="straightConnector1">
            <a:avLst/>
          </a:prstGeom>
          <a:noFill/>
          <a:ln cap="flat" cmpd="sng" w="15225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</p:cxnSp>
      <p:graphicFrame>
        <p:nvGraphicFramePr>
          <p:cNvPr id="305" name="Google Shape;305;p23"/>
          <p:cNvGraphicFramePr/>
          <p:nvPr/>
        </p:nvGraphicFramePr>
        <p:xfrm>
          <a:off x="7557100" y="17727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{BDA16412-8DA7-4E10-A734-24902FDF6F4A}</a:tableStyleId>
              </a:tblPr>
              <a:tblGrid>
                <a:gridCol w="2645175"/>
                <a:gridCol w="1652025"/>
              </a:tblGrid>
              <a:tr h="368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Метрика</a:t>
                      </a:r>
                      <a:endParaRPr b="1" sz="1100"/>
                    </a:p>
                  </a:txBody>
                  <a:tcPr marT="63500" marB="63500" marR="63500" marL="63500">
                    <a:lnL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Значение</a:t>
                      </a:r>
                      <a:endParaRPr b="1" sz="1100"/>
                    </a:p>
                  </a:txBody>
                  <a:tcPr marT="63500" marB="63500" marR="63500" marL="63500">
                    <a:lnL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Precision</a:t>
                      </a:r>
                      <a:endParaRPr b="1" sz="1100"/>
                    </a:p>
                  </a:txBody>
                  <a:tcPr marT="63500" marB="63500" marR="63500" marL="63500">
                    <a:lnL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>
                          <a:solidFill>
                            <a:schemeClr val="dk1"/>
                          </a:solidFill>
                        </a:rPr>
                        <a:t>0.9655</a:t>
                      </a:r>
                      <a:endParaRPr sz="1100"/>
                    </a:p>
                  </a:txBody>
                  <a:tcPr marT="63500" marB="63500" marR="63500" marL="63500">
                    <a:lnL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Recall</a:t>
                      </a:r>
                      <a:endParaRPr b="1" sz="1100"/>
                    </a:p>
                  </a:txBody>
                  <a:tcPr marT="63500" marB="63500" marR="63500" marL="63500">
                    <a:lnL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0.9333</a:t>
                      </a:r>
                      <a:endParaRPr sz="1100"/>
                    </a:p>
                  </a:txBody>
                  <a:tcPr marT="63500" marB="63500" marR="63500" marL="63500">
                    <a:lnL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F1-score</a:t>
                      </a:r>
                      <a:endParaRPr b="1" sz="1100"/>
                    </a:p>
                  </a:txBody>
                  <a:tcPr marT="63500" marB="63500" marR="63500" marL="63500">
                    <a:lnL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0.9655</a:t>
                      </a:r>
                      <a:endParaRPr sz="1100"/>
                    </a:p>
                  </a:txBody>
                  <a:tcPr marT="63500" marB="63500" marR="63500" marL="63500">
                    <a:lnL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Field Accuracy</a:t>
                      </a:r>
                      <a:endParaRPr b="1" sz="1100"/>
                    </a:p>
                  </a:txBody>
                  <a:tcPr marT="63500" marB="63500" marR="63500" marL="63500">
                    <a:lnL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0.9333</a:t>
                      </a:r>
                      <a:endParaRPr sz="1100"/>
                    </a:p>
                  </a:txBody>
                  <a:tcPr marT="63500" marB="63500" marR="63500" marL="63500">
                    <a:lnL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Missing Rate</a:t>
                      </a:r>
                      <a:endParaRPr b="1" sz="1100"/>
                    </a:p>
                  </a:txBody>
                  <a:tcPr marT="63500" marB="63500" marR="63500" marL="63500">
                    <a:lnL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0.0667</a:t>
                      </a:r>
                      <a:endParaRPr sz="1100"/>
                    </a:p>
                  </a:txBody>
                  <a:tcPr marT="63500" marB="63500" marR="63500" marL="63500">
                    <a:lnL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SER / Entity Similarity</a:t>
                      </a:r>
                      <a:endParaRPr b="1" sz="1100"/>
                    </a:p>
                  </a:txBody>
                  <a:tcPr marT="63500" marB="63500" marR="63500" marL="63500">
                    <a:lnL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0.9333</a:t>
                      </a:r>
                      <a:endParaRPr sz="1100"/>
                    </a:p>
                  </a:txBody>
                  <a:tcPr marT="63500" marB="63500" marR="63500" marL="63500">
                    <a:lnL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CER</a:t>
                      </a:r>
                      <a:endParaRPr b="1" sz="1100"/>
                    </a:p>
                  </a:txBody>
                  <a:tcPr marT="63500" marB="63500" marR="63500" marL="63500">
                    <a:lnL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0.0449</a:t>
                      </a:r>
                      <a:endParaRPr sz="1100"/>
                    </a:p>
                  </a:txBody>
                  <a:tcPr marT="63500" marB="63500" marR="63500" marL="63500">
                    <a:lnL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WER</a:t>
                      </a:r>
                      <a:endParaRPr b="1" sz="1100"/>
                    </a:p>
                  </a:txBody>
                  <a:tcPr marT="63500" marB="63500" marR="63500" marL="63500">
                    <a:lnL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0.0625</a:t>
                      </a:r>
                      <a:endParaRPr sz="1100"/>
                    </a:p>
                  </a:txBody>
                  <a:tcPr marT="63500" marB="63500" marR="63500" marL="63500">
                    <a:lnL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306" name="Google Shape;306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9575" y="933740"/>
            <a:ext cx="3244874" cy="108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" name="Google Shape;307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1350" y="1953002"/>
            <a:ext cx="2585200" cy="882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8" name="Google Shape;308;p23"/>
          <p:cNvPicPr preferRelativeResize="0"/>
          <p:nvPr/>
        </p:nvPicPr>
        <p:blipFill rotWithShape="1">
          <a:blip r:embed="rId5">
            <a:alphaModFix/>
          </a:blip>
          <a:srcRect b="0" l="9009" r="13657" t="0"/>
          <a:stretch/>
        </p:blipFill>
        <p:spPr>
          <a:xfrm>
            <a:off x="3937325" y="1411500"/>
            <a:ext cx="3308425" cy="1237650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23"/>
          <p:cNvSpPr txBox="1"/>
          <p:nvPr/>
        </p:nvSpPr>
        <p:spPr>
          <a:xfrm>
            <a:off x="218125" y="2835750"/>
            <a:ext cx="6809400" cy="9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где: TP— количество корректно извлечённых полей,FP — количество извлечённых, но ошибочных значений, </a:t>
            </a:r>
            <a:r>
              <a:rPr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FN - количество пропущенных, но релевантных объектов.  </a:t>
            </a:r>
            <a:r>
              <a:rPr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0" name="Google Shape;310;p23"/>
          <p:cNvSpPr txBox="1"/>
          <p:nvPr/>
        </p:nvSpPr>
        <p:spPr>
          <a:xfrm>
            <a:off x="329400" y="3878300"/>
            <a:ext cx="6504000" cy="6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45720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lang="en-US" sz="1500">
                <a:latin typeface="Times New Roman"/>
                <a:ea typeface="Times New Roman"/>
                <a:cs typeface="Times New Roman"/>
                <a:sym typeface="Times New Roman"/>
              </a:rPr>
              <a:t>Precision -это доля объектов, названными классификатором положительными и при этом действительно являющимися положительными.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1" name="Google Shape;311;p23"/>
          <p:cNvSpPr txBox="1"/>
          <p:nvPr/>
        </p:nvSpPr>
        <p:spPr>
          <a:xfrm>
            <a:off x="329400" y="4655350"/>
            <a:ext cx="6504000" cy="6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45720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500">
                <a:latin typeface="Times New Roman"/>
                <a:ea typeface="Times New Roman"/>
                <a:cs typeface="Times New Roman"/>
                <a:sym typeface="Times New Roman"/>
              </a:rPr>
              <a:t>Recall -метрика, которая показывает, какую долю от всех существующих объектов нужного класса смогла найти модель.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2" name="Google Shape;312;p23"/>
          <p:cNvSpPr txBox="1"/>
          <p:nvPr/>
        </p:nvSpPr>
        <p:spPr>
          <a:xfrm>
            <a:off x="370825" y="5533200"/>
            <a:ext cx="68565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F1-score - комплексная метрика, которая рассчитывает среднее гармоническое между ложными срабатываниями и пропуском данных. 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3" name="Google Shape;313;p23"/>
          <p:cNvSpPr txBox="1"/>
          <p:nvPr/>
        </p:nvSpPr>
        <p:spPr>
          <a:xfrm>
            <a:off x="11784450" y="6457800"/>
            <a:ext cx="407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18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24"/>
          <p:cNvSpPr/>
          <p:nvPr/>
        </p:nvSpPr>
        <p:spPr>
          <a:xfrm>
            <a:off x="633375" y="0"/>
            <a:ext cx="11141400" cy="46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1E3A8A"/>
                </a:solidFill>
              </a:rPr>
              <a:t>Общие выводы по задачам работы</a:t>
            </a:r>
            <a:endParaRPr b="1" sz="2400">
              <a:solidFill>
                <a:srgbClr val="1E3A8A"/>
              </a:solidFill>
            </a:endParaRPr>
          </a:p>
        </p:txBody>
      </p:sp>
      <p:cxnSp>
        <p:nvCxnSpPr>
          <p:cNvPr id="320" name="Google Shape;320;p24"/>
          <p:cNvCxnSpPr/>
          <p:nvPr/>
        </p:nvCxnSpPr>
        <p:spPr>
          <a:xfrm>
            <a:off x="632390" y="468299"/>
            <a:ext cx="10927200" cy="0"/>
          </a:xfrm>
          <a:prstGeom prst="straightConnector1">
            <a:avLst/>
          </a:prstGeom>
          <a:noFill/>
          <a:ln cap="flat" cmpd="sng" w="15225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1" name="Google Shape;321;p24"/>
          <p:cNvSpPr txBox="1"/>
          <p:nvPr/>
        </p:nvSpPr>
        <p:spPr>
          <a:xfrm>
            <a:off x="609595" y="567225"/>
            <a:ext cx="109728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Полученные результаты соотносятся с задачами, поставленными в начале исследования.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22" name="Google Shape;322;p24"/>
          <p:cNvSpPr/>
          <p:nvPr/>
        </p:nvSpPr>
        <p:spPr>
          <a:xfrm>
            <a:off x="746822" y="1435708"/>
            <a:ext cx="5074800" cy="1353300"/>
          </a:xfrm>
          <a:prstGeom prst="roundRect">
            <a:avLst>
              <a:gd fmla="val 16667" name="adj"/>
            </a:avLst>
          </a:prstGeom>
          <a:solidFill>
            <a:srgbClr val="EDF4FF"/>
          </a:solidFill>
          <a:ln cap="flat" cmpd="sng" w="13950">
            <a:solidFill>
              <a:srgbClr val="B9CC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24"/>
          <p:cNvSpPr/>
          <p:nvPr/>
        </p:nvSpPr>
        <p:spPr>
          <a:xfrm>
            <a:off x="911415" y="1600300"/>
            <a:ext cx="384000" cy="384000"/>
          </a:xfrm>
          <a:prstGeom prst="ellipse">
            <a:avLst/>
          </a:prstGeom>
          <a:solidFill>
            <a:srgbClr val="1F408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324" name="Google Shape;324;p24"/>
          <p:cNvSpPr txBox="1"/>
          <p:nvPr/>
        </p:nvSpPr>
        <p:spPr>
          <a:xfrm>
            <a:off x="1432622" y="1572868"/>
            <a:ext cx="41604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F408F"/>
                </a:solidFill>
                <a:latin typeface="Arial"/>
                <a:ea typeface="Arial"/>
                <a:cs typeface="Arial"/>
                <a:sym typeface="Arial"/>
              </a:rPr>
              <a:t>Анализ методов</a:t>
            </a:r>
            <a:endParaRPr/>
          </a:p>
        </p:txBody>
      </p:sp>
      <p:sp>
        <p:nvSpPr>
          <p:cNvPr id="325" name="Google Shape;325;p24"/>
          <p:cNvSpPr txBox="1"/>
          <p:nvPr/>
        </p:nvSpPr>
        <p:spPr>
          <a:xfrm>
            <a:off x="929703" y="2030068"/>
            <a:ext cx="4755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80" u="none" cap="none" strike="noStrike">
                <a:solidFill>
                  <a:srgbClr val="1C273A"/>
                </a:solidFill>
                <a:latin typeface="Arial"/>
                <a:ea typeface="Arial"/>
                <a:cs typeface="Arial"/>
                <a:sym typeface="Arial"/>
              </a:rPr>
              <a:t>Рассмотрены подходы к OCR, классификации и извлечению полей. Показано, что при малом корпусе и ограниченных ресурсах рационален гибридный конвейер.</a:t>
            </a:r>
            <a:endParaRPr/>
          </a:p>
        </p:txBody>
      </p:sp>
      <p:sp>
        <p:nvSpPr>
          <p:cNvPr id="326" name="Google Shape;326;p24"/>
          <p:cNvSpPr/>
          <p:nvPr/>
        </p:nvSpPr>
        <p:spPr>
          <a:xfrm>
            <a:off x="6370383" y="1435708"/>
            <a:ext cx="5074800" cy="1353300"/>
          </a:xfrm>
          <a:prstGeom prst="roundRect">
            <a:avLst>
              <a:gd fmla="val 16667" name="adj"/>
            </a:avLst>
          </a:prstGeom>
          <a:solidFill>
            <a:srgbClr val="F6F8FC"/>
          </a:solidFill>
          <a:ln cap="flat" cmpd="sng" w="13950">
            <a:solidFill>
              <a:srgbClr val="B9CC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24"/>
          <p:cNvSpPr/>
          <p:nvPr/>
        </p:nvSpPr>
        <p:spPr>
          <a:xfrm>
            <a:off x="6534974" y="1600300"/>
            <a:ext cx="384000" cy="384000"/>
          </a:xfrm>
          <a:prstGeom prst="ellipse">
            <a:avLst/>
          </a:prstGeom>
          <a:solidFill>
            <a:srgbClr val="1F408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328" name="Google Shape;328;p24"/>
          <p:cNvSpPr txBox="1"/>
          <p:nvPr/>
        </p:nvSpPr>
        <p:spPr>
          <a:xfrm>
            <a:off x="7056183" y="1572868"/>
            <a:ext cx="41604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F408F"/>
                </a:solidFill>
                <a:latin typeface="Arial"/>
                <a:ea typeface="Arial"/>
                <a:cs typeface="Arial"/>
                <a:sym typeface="Arial"/>
              </a:rPr>
              <a:t>Формирование корпуса</a:t>
            </a:r>
            <a:endParaRPr/>
          </a:p>
        </p:txBody>
      </p:sp>
      <p:sp>
        <p:nvSpPr>
          <p:cNvPr id="329" name="Google Shape;329;p24"/>
          <p:cNvSpPr txBox="1"/>
          <p:nvPr/>
        </p:nvSpPr>
        <p:spPr>
          <a:xfrm>
            <a:off x="6553263" y="2030068"/>
            <a:ext cx="4755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80" u="none" cap="none" strike="noStrike">
                <a:solidFill>
                  <a:srgbClr val="1C273A"/>
                </a:solidFill>
                <a:latin typeface="Arial"/>
                <a:ea typeface="Arial"/>
                <a:cs typeface="Arial"/>
                <a:sym typeface="Arial"/>
              </a:rPr>
              <a:t>Подготовлен набор документов по 6 типам: эталонные PDF с известным классом, проверенные TXT, XML-разметка и неразмеченные PDF для проверки.</a:t>
            </a:r>
            <a:endParaRPr/>
          </a:p>
        </p:txBody>
      </p:sp>
      <p:sp>
        <p:nvSpPr>
          <p:cNvPr id="330" name="Google Shape;330;p24"/>
          <p:cNvSpPr/>
          <p:nvPr/>
        </p:nvSpPr>
        <p:spPr>
          <a:xfrm>
            <a:off x="746822" y="3145635"/>
            <a:ext cx="5074800" cy="1353300"/>
          </a:xfrm>
          <a:prstGeom prst="roundRect">
            <a:avLst>
              <a:gd fmla="val 16667" name="adj"/>
            </a:avLst>
          </a:prstGeom>
          <a:solidFill>
            <a:srgbClr val="F6F8FC"/>
          </a:solidFill>
          <a:ln cap="flat" cmpd="sng" w="13950">
            <a:solidFill>
              <a:srgbClr val="B9CC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24"/>
          <p:cNvSpPr/>
          <p:nvPr/>
        </p:nvSpPr>
        <p:spPr>
          <a:xfrm>
            <a:off x="911415" y="3310228"/>
            <a:ext cx="384000" cy="384000"/>
          </a:xfrm>
          <a:prstGeom prst="ellipse">
            <a:avLst/>
          </a:prstGeom>
          <a:solidFill>
            <a:srgbClr val="1F408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332" name="Google Shape;332;p24"/>
          <p:cNvSpPr txBox="1"/>
          <p:nvPr/>
        </p:nvSpPr>
        <p:spPr>
          <a:xfrm>
            <a:off x="1432622" y="3282796"/>
            <a:ext cx="41604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F408F"/>
                </a:solidFill>
                <a:latin typeface="Arial"/>
                <a:ea typeface="Arial"/>
                <a:cs typeface="Arial"/>
                <a:sym typeface="Arial"/>
              </a:rPr>
              <a:t>Разработка решения</a:t>
            </a:r>
            <a:endParaRPr/>
          </a:p>
        </p:txBody>
      </p:sp>
      <p:sp>
        <p:nvSpPr>
          <p:cNvPr id="333" name="Google Shape;333;p24"/>
          <p:cNvSpPr txBox="1"/>
          <p:nvPr/>
        </p:nvSpPr>
        <p:spPr>
          <a:xfrm>
            <a:off x="929703" y="3739996"/>
            <a:ext cx="4755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80" u="none" cap="none" strike="noStrike">
                <a:solidFill>
                  <a:srgbClr val="1C273A"/>
                </a:solidFill>
                <a:latin typeface="Arial"/>
                <a:ea typeface="Arial"/>
                <a:cs typeface="Arial"/>
                <a:sym typeface="Arial"/>
              </a:rPr>
              <a:t>Реализован программный конвейер: OCR, определение типа документа, извлечение ключевых полей и формирование XML с сохранением промежуточных результатов.</a:t>
            </a:r>
            <a:endParaRPr/>
          </a:p>
        </p:txBody>
      </p:sp>
      <p:sp>
        <p:nvSpPr>
          <p:cNvPr id="334" name="Google Shape;334;p24"/>
          <p:cNvSpPr/>
          <p:nvPr/>
        </p:nvSpPr>
        <p:spPr>
          <a:xfrm>
            <a:off x="6370383" y="3145635"/>
            <a:ext cx="5074800" cy="1353300"/>
          </a:xfrm>
          <a:prstGeom prst="roundRect">
            <a:avLst>
              <a:gd fmla="val 16667" name="adj"/>
            </a:avLst>
          </a:prstGeom>
          <a:solidFill>
            <a:srgbClr val="EDF4FF"/>
          </a:solidFill>
          <a:ln cap="flat" cmpd="sng" w="13950">
            <a:solidFill>
              <a:srgbClr val="B9CC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24"/>
          <p:cNvSpPr/>
          <p:nvPr/>
        </p:nvSpPr>
        <p:spPr>
          <a:xfrm>
            <a:off x="6534974" y="3310228"/>
            <a:ext cx="384000" cy="384000"/>
          </a:xfrm>
          <a:prstGeom prst="ellipse">
            <a:avLst/>
          </a:prstGeom>
          <a:solidFill>
            <a:srgbClr val="1F408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sp>
        <p:nvSpPr>
          <p:cNvPr id="336" name="Google Shape;336;p24"/>
          <p:cNvSpPr txBox="1"/>
          <p:nvPr/>
        </p:nvSpPr>
        <p:spPr>
          <a:xfrm>
            <a:off x="7056183" y="3282796"/>
            <a:ext cx="41604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F408F"/>
                </a:solidFill>
                <a:latin typeface="Arial"/>
                <a:ea typeface="Arial"/>
                <a:cs typeface="Arial"/>
                <a:sym typeface="Arial"/>
              </a:rPr>
              <a:t>Экспериментальная оценка</a:t>
            </a:r>
            <a:endParaRPr/>
          </a:p>
        </p:txBody>
      </p:sp>
      <p:sp>
        <p:nvSpPr>
          <p:cNvPr id="337" name="Google Shape;337;p24"/>
          <p:cNvSpPr txBox="1"/>
          <p:nvPr/>
        </p:nvSpPr>
        <p:spPr>
          <a:xfrm>
            <a:off x="6553263" y="3739996"/>
            <a:ext cx="4755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80" u="none" cap="none" strike="noStrike">
                <a:solidFill>
                  <a:srgbClr val="1C273A"/>
                </a:solidFill>
                <a:latin typeface="Arial"/>
                <a:ea typeface="Arial"/>
                <a:cs typeface="Arial"/>
                <a:sym typeface="Arial"/>
              </a:rPr>
              <a:t>Проведено сравнение подходов и расчет метрик. Результаты подтвердили работоспособность решения и выявили ограничения: OCR-ошибки, малый корпус и требования LLM к ресурсам.</a:t>
            </a:r>
            <a:endParaRPr/>
          </a:p>
        </p:txBody>
      </p:sp>
      <p:sp>
        <p:nvSpPr>
          <p:cNvPr id="338" name="Google Shape;338;p24"/>
          <p:cNvSpPr/>
          <p:nvPr/>
        </p:nvSpPr>
        <p:spPr>
          <a:xfrm>
            <a:off x="723910" y="5310220"/>
            <a:ext cx="10744200" cy="685800"/>
          </a:xfrm>
          <a:prstGeom prst="roundRect">
            <a:avLst>
              <a:gd fmla="val 16667" name="adj"/>
            </a:avLst>
          </a:prstGeom>
          <a:solidFill>
            <a:srgbClr val="FFF8EE"/>
          </a:solidFill>
          <a:ln cap="flat" cmpd="sng" w="12700">
            <a:solidFill>
              <a:srgbClr val="E8BB7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24"/>
          <p:cNvSpPr/>
          <p:nvPr/>
        </p:nvSpPr>
        <p:spPr>
          <a:xfrm>
            <a:off x="849182" y="5433667"/>
            <a:ext cx="73200" cy="438900"/>
          </a:xfrm>
          <a:prstGeom prst="rect">
            <a:avLst/>
          </a:prstGeom>
          <a:solidFill>
            <a:srgbClr val="F4952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24"/>
          <p:cNvSpPr txBox="1"/>
          <p:nvPr/>
        </p:nvSpPr>
        <p:spPr>
          <a:xfrm>
            <a:off x="1021062" y="5417622"/>
            <a:ext cx="10149900" cy="47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C273A"/>
                </a:solidFill>
                <a:latin typeface="Arial"/>
                <a:ea typeface="Arial"/>
                <a:cs typeface="Arial"/>
                <a:sym typeface="Arial"/>
              </a:rPr>
              <a:t>Итог: цель работы достигнута — разработан воспроизводимый программный конвейер обработки юридического PDF-документа от скана до структурированного XML.</a:t>
            </a:r>
            <a:endParaRPr/>
          </a:p>
        </p:txBody>
      </p:sp>
      <p:sp>
        <p:nvSpPr>
          <p:cNvPr id="341" name="Google Shape;341;p24"/>
          <p:cNvSpPr txBox="1"/>
          <p:nvPr/>
        </p:nvSpPr>
        <p:spPr>
          <a:xfrm>
            <a:off x="11807875" y="6457800"/>
            <a:ext cx="38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19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25"/>
          <p:cNvSpPr/>
          <p:nvPr/>
        </p:nvSpPr>
        <p:spPr>
          <a:xfrm>
            <a:off x="633375" y="9755"/>
            <a:ext cx="11141400" cy="46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1E3A8A"/>
                </a:solidFill>
              </a:rPr>
              <a:t>Результаты работы с заказчиком</a:t>
            </a:r>
            <a:endParaRPr b="1" sz="2400">
              <a:solidFill>
                <a:srgbClr val="1E3A8A"/>
              </a:solidFill>
            </a:endParaRPr>
          </a:p>
        </p:txBody>
      </p:sp>
      <p:cxnSp>
        <p:nvCxnSpPr>
          <p:cNvPr id="348" name="Google Shape;348;p25"/>
          <p:cNvCxnSpPr/>
          <p:nvPr/>
        </p:nvCxnSpPr>
        <p:spPr>
          <a:xfrm>
            <a:off x="632390" y="478054"/>
            <a:ext cx="10927200" cy="0"/>
          </a:xfrm>
          <a:prstGeom prst="straightConnector1">
            <a:avLst/>
          </a:prstGeom>
          <a:noFill/>
          <a:ln cap="flat" cmpd="sng" w="15225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349" name="Google Shape;349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21250" y="1610938"/>
            <a:ext cx="6300382" cy="3636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0" name="Google Shape;350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425" y="2456612"/>
            <a:ext cx="5586825" cy="1944781"/>
          </a:xfrm>
          <a:prstGeom prst="rect">
            <a:avLst/>
          </a:prstGeom>
          <a:noFill/>
          <a:ln>
            <a:noFill/>
          </a:ln>
        </p:spPr>
      </p:pic>
      <p:sp>
        <p:nvSpPr>
          <p:cNvPr id="351" name="Google Shape;351;p25"/>
          <p:cNvSpPr txBox="1"/>
          <p:nvPr/>
        </p:nvSpPr>
        <p:spPr>
          <a:xfrm>
            <a:off x="11774775" y="6457800"/>
            <a:ext cx="417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20</a:t>
            </a:r>
            <a:endParaRPr/>
          </a:p>
        </p:txBody>
      </p:sp>
      <p:pic>
        <p:nvPicPr>
          <p:cNvPr id="352" name="Google Shape;352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67950" y="5344250"/>
            <a:ext cx="9656101" cy="1449975"/>
          </a:xfrm>
          <a:prstGeom prst="rect">
            <a:avLst/>
          </a:prstGeom>
          <a:noFill/>
          <a:ln>
            <a:noFill/>
          </a:ln>
        </p:spPr>
      </p:pic>
      <p:sp>
        <p:nvSpPr>
          <p:cNvPr id="353" name="Google Shape;353;p25"/>
          <p:cNvSpPr txBox="1"/>
          <p:nvPr/>
        </p:nvSpPr>
        <p:spPr>
          <a:xfrm>
            <a:off x="7571447" y="1199350"/>
            <a:ext cx="24000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Инструкция для заказчика</a:t>
            </a:r>
            <a:endParaRPr/>
          </a:p>
        </p:txBody>
      </p:sp>
      <p:sp>
        <p:nvSpPr>
          <p:cNvPr id="354" name="Google Shape;354;p25"/>
          <p:cNvSpPr txBox="1"/>
          <p:nvPr/>
        </p:nvSpPr>
        <p:spPr>
          <a:xfrm>
            <a:off x="1379138" y="2045025"/>
            <a:ext cx="28974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Решение переданное заказчику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26"/>
          <p:cNvSpPr/>
          <p:nvPr/>
        </p:nvSpPr>
        <p:spPr>
          <a:xfrm>
            <a:off x="633375" y="0"/>
            <a:ext cx="11141400" cy="46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1E3A8A"/>
                </a:solidFill>
              </a:rPr>
              <a:t>Развитие проекта</a:t>
            </a:r>
            <a:endParaRPr b="1" sz="2400">
              <a:solidFill>
                <a:srgbClr val="1E3A8A"/>
              </a:solidFill>
            </a:endParaRPr>
          </a:p>
        </p:txBody>
      </p:sp>
      <p:cxnSp>
        <p:nvCxnSpPr>
          <p:cNvPr id="361" name="Google Shape;361;p26"/>
          <p:cNvCxnSpPr/>
          <p:nvPr/>
        </p:nvCxnSpPr>
        <p:spPr>
          <a:xfrm>
            <a:off x="632390" y="468299"/>
            <a:ext cx="10927200" cy="0"/>
          </a:xfrm>
          <a:prstGeom prst="straightConnector1">
            <a:avLst/>
          </a:prstGeom>
          <a:noFill/>
          <a:ln cap="flat" cmpd="sng" w="15225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2" name="Google Shape;362;p26"/>
          <p:cNvSpPr/>
          <p:nvPr/>
        </p:nvSpPr>
        <p:spPr>
          <a:xfrm>
            <a:off x="456663" y="4308650"/>
            <a:ext cx="10927200" cy="1302600"/>
          </a:xfrm>
          <a:prstGeom prst="roundRect">
            <a:avLst>
              <a:gd fmla="val 2254" name="adj"/>
            </a:avLst>
          </a:prstGeom>
          <a:solidFill>
            <a:srgbClr val="EFF6FF"/>
          </a:solidFill>
          <a:ln cap="flat" cmpd="sng" w="9525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26"/>
          <p:cNvSpPr/>
          <p:nvPr/>
        </p:nvSpPr>
        <p:spPr>
          <a:xfrm>
            <a:off x="664113" y="4601300"/>
            <a:ext cx="10512300" cy="71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80">
                <a:solidFill>
                  <a:schemeClr val="dk1"/>
                </a:solidFill>
              </a:rPr>
              <a:t>В настоящий момент была сформирована новая аналогичная задача от Тюменского Государственного университета. </a:t>
            </a:r>
            <a:endParaRPr sz="1680">
              <a:solidFill>
                <a:schemeClr val="dk1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80">
                <a:solidFill>
                  <a:schemeClr val="dk1"/>
                </a:solidFill>
              </a:rPr>
              <a:t>Наша работа, после адаптации, может легко закрыть эту потребность.</a:t>
            </a:r>
            <a:endParaRPr sz="1680">
              <a:solidFill>
                <a:schemeClr val="dk1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80">
                <a:solidFill>
                  <a:schemeClr val="dk1"/>
                </a:solidFill>
              </a:rPr>
              <a:t>Таким образом, данная работа решает реальные кейсы необходимые организациям.</a:t>
            </a:r>
            <a:endParaRPr sz="1680">
              <a:solidFill>
                <a:schemeClr val="dk1"/>
              </a:solidFill>
            </a:endParaRPr>
          </a:p>
        </p:txBody>
      </p:sp>
      <p:pic>
        <p:nvPicPr>
          <p:cNvPr id="364" name="Google Shape;364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54275" y="1585250"/>
            <a:ext cx="4067425" cy="2325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5" name="Google Shape;365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37575" y="830029"/>
            <a:ext cx="3030975" cy="3296550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26"/>
          <p:cNvSpPr txBox="1"/>
          <p:nvPr/>
        </p:nvSpPr>
        <p:spPr>
          <a:xfrm>
            <a:off x="11725900" y="6457800"/>
            <a:ext cx="465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21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2" name="Google Shape;372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65175" y="565725"/>
            <a:ext cx="7261652" cy="6292276"/>
          </a:xfrm>
          <a:prstGeom prst="rect">
            <a:avLst/>
          </a:prstGeom>
          <a:noFill/>
          <a:ln>
            <a:noFill/>
          </a:ln>
        </p:spPr>
      </p:pic>
      <p:sp>
        <p:nvSpPr>
          <p:cNvPr id="373" name="Google Shape;373;p27"/>
          <p:cNvSpPr/>
          <p:nvPr/>
        </p:nvSpPr>
        <p:spPr>
          <a:xfrm>
            <a:off x="633375" y="0"/>
            <a:ext cx="11141400" cy="46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1E3A8A"/>
                </a:solidFill>
              </a:rPr>
              <a:t>Публикация в научном журнале</a:t>
            </a:r>
            <a:endParaRPr b="1" sz="2400">
              <a:solidFill>
                <a:srgbClr val="1E3A8A"/>
              </a:solidFill>
            </a:endParaRPr>
          </a:p>
        </p:txBody>
      </p:sp>
      <p:cxnSp>
        <p:nvCxnSpPr>
          <p:cNvPr id="374" name="Google Shape;374;p27"/>
          <p:cNvCxnSpPr/>
          <p:nvPr/>
        </p:nvCxnSpPr>
        <p:spPr>
          <a:xfrm>
            <a:off x="632390" y="468299"/>
            <a:ext cx="10927200" cy="0"/>
          </a:xfrm>
          <a:prstGeom prst="straightConnector1">
            <a:avLst/>
          </a:prstGeom>
          <a:noFill/>
          <a:ln cap="flat" cmpd="sng" w="15225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75" name="Google Shape;375;p27"/>
          <p:cNvSpPr txBox="1"/>
          <p:nvPr/>
        </p:nvSpPr>
        <p:spPr>
          <a:xfrm>
            <a:off x="11774775" y="6457800"/>
            <a:ext cx="417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22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28"/>
          <p:cNvSpPr txBox="1"/>
          <p:nvPr/>
        </p:nvSpPr>
        <p:spPr>
          <a:xfrm>
            <a:off x="594360" y="164592"/>
            <a:ext cx="10789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26479A"/>
                </a:solidFill>
                <a:latin typeface="Arial"/>
                <a:ea typeface="Arial"/>
                <a:cs typeface="Arial"/>
                <a:sym typeface="Arial"/>
              </a:rPr>
              <a:t>Распределение задач и вклад участников</a:t>
            </a:r>
            <a:endParaRPr/>
          </a:p>
        </p:txBody>
      </p:sp>
      <p:sp>
        <p:nvSpPr>
          <p:cNvPr id="382" name="Google Shape;382;p28"/>
          <p:cNvSpPr/>
          <p:nvPr/>
        </p:nvSpPr>
        <p:spPr>
          <a:xfrm>
            <a:off x="658368" y="731520"/>
            <a:ext cx="10149900" cy="22800"/>
          </a:xfrm>
          <a:prstGeom prst="rect">
            <a:avLst/>
          </a:prstGeom>
          <a:solidFill>
            <a:srgbClr val="3169FF"/>
          </a:solidFill>
          <a:ln cap="flat" cmpd="sng" w="9525">
            <a:solidFill>
              <a:srgbClr val="3169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p28"/>
          <p:cNvSpPr/>
          <p:nvPr/>
        </p:nvSpPr>
        <p:spPr>
          <a:xfrm>
            <a:off x="685800" y="1353312"/>
            <a:ext cx="4983600" cy="4160400"/>
          </a:xfrm>
          <a:prstGeom prst="roundRect">
            <a:avLst>
              <a:gd fmla="val 16667" name="adj"/>
            </a:avLst>
          </a:prstGeom>
          <a:solidFill>
            <a:srgbClr val="F8FAFF"/>
          </a:solidFill>
          <a:ln cap="flat" cmpd="sng" w="14600">
            <a:solidFill>
              <a:srgbClr val="3169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p28"/>
          <p:cNvSpPr/>
          <p:nvPr/>
        </p:nvSpPr>
        <p:spPr>
          <a:xfrm>
            <a:off x="685800" y="1353312"/>
            <a:ext cx="4983600" cy="530400"/>
          </a:xfrm>
          <a:prstGeom prst="roundRect">
            <a:avLst>
              <a:gd fmla="val 16667" name="adj"/>
            </a:avLst>
          </a:prstGeom>
          <a:solidFill>
            <a:srgbClr val="26479A"/>
          </a:solidFill>
          <a:ln cap="flat" cmpd="sng" w="9525">
            <a:solidFill>
              <a:srgbClr val="26479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127000" spcFirstLastPara="1" rIns="1270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Сидоренко Тарас Альбертович</a:t>
            </a:r>
            <a:endParaRPr/>
          </a:p>
        </p:txBody>
      </p:sp>
      <p:sp>
        <p:nvSpPr>
          <p:cNvPr id="385" name="Google Shape;385;p28"/>
          <p:cNvSpPr txBox="1"/>
          <p:nvPr/>
        </p:nvSpPr>
        <p:spPr>
          <a:xfrm>
            <a:off x="941825" y="2074475"/>
            <a:ext cx="4544700" cy="26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202020"/>
                </a:solidFill>
                <a:latin typeface="Arial"/>
                <a:ea typeface="Arial"/>
                <a:cs typeface="Arial"/>
                <a:sym typeface="Arial"/>
              </a:rPr>
              <a:t>• анализ исходных PDF и особенностей их обработки;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202020"/>
                </a:solidFill>
                <a:latin typeface="Arial"/>
                <a:ea typeface="Arial"/>
                <a:cs typeface="Arial"/>
                <a:sym typeface="Arial"/>
              </a:rPr>
              <a:t>• исследование OCR-средств, рендеринга PDF и предобработки страниц;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202020"/>
                </a:solidFill>
                <a:latin typeface="Arial"/>
                <a:ea typeface="Arial"/>
                <a:cs typeface="Arial"/>
                <a:sym typeface="Arial"/>
              </a:rPr>
              <a:t>• улучшение качества изображений: контраст, очистка шумов, подготовка к OCR;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202020"/>
                </a:solidFill>
                <a:latin typeface="Arial"/>
                <a:ea typeface="Arial"/>
                <a:cs typeface="Arial"/>
                <a:sym typeface="Arial"/>
              </a:rPr>
              <a:t>• сравнение LLM-моделей, выбор модели и настройка параметров;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202020"/>
                </a:solidFill>
                <a:latin typeface="Arial"/>
                <a:ea typeface="Arial"/>
                <a:cs typeface="Arial"/>
                <a:sym typeface="Arial"/>
              </a:rPr>
              <a:t>• организация конвейера в Google Colab, зависимости и сохранение результатов;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202020"/>
                </a:solidFill>
                <a:latin typeface="Arial"/>
                <a:ea typeface="Arial"/>
                <a:cs typeface="Arial"/>
                <a:sym typeface="Arial"/>
              </a:rPr>
              <a:t>• анализ вычислительных ресурсов и ограничений системы.</a:t>
            </a:r>
            <a:endParaRPr/>
          </a:p>
        </p:txBody>
      </p:sp>
      <p:sp>
        <p:nvSpPr>
          <p:cNvPr id="386" name="Google Shape;386;p28"/>
          <p:cNvSpPr/>
          <p:nvPr/>
        </p:nvSpPr>
        <p:spPr>
          <a:xfrm>
            <a:off x="5897880" y="1353312"/>
            <a:ext cx="4983600" cy="4160400"/>
          </a:xfrm>
          <a:prstGeom prst="roundRect">
            <a:avLst>
              <a:gd fmla="val 16667" name="adj"/>
            </a:avLst>
          </a:prstGeom>
          <a:solidFill>
            <a:srgbClr val="F8FAFF"/>
          </a:solidFill>
          <a:ln cap="flat" cmpd="sng" w="14600">
            <a:solidFill>
              <a:srgbClr val="3169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p28"/>
          <p:cNvSpPr/>
          <p:nvPr/>
        </p:nvSpPr>
        <p:spPr>
          <a:xfrm>
            <a:off x="5897880" y="1353312"/>
            <a:ext cx="4983600" cy="530400"/>
          </a:xfrm>
          <a:prstGeom prst="roundRect">
            <a:avLst>
              <a:gd fmla="val 16667" name="adj"/>
            </a:avLst>
          </a:prstGeom>
          <a:solidFill>
            <a:srgbClr val="26479A"/>
          </a:solidFill>
          <a:ln cap="flat" cmpd="sng" w="9525">
            <a:solidFill>
              <a:srgbClr val="26479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127000" spcFirstLastPara="1" rIns="1270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Савенко Олег Сергеевич</a:t>
            </a:r>
            <a:endParaRPr/>
          </a:p>
        </p:txBody>
      </p:sp>
      <p:sp>
        <p:nvSpPr>
          <p:cNvPr id="388" name="Google Shape;388;p28"/>
          <p:cNvSpPr txBox="1"/>
          <p:nvPr/>
        </p:nvSpPr>
        <p:spPr>
          <a:xfrm>
            <a:off x="6117337" y="1998140"/>
            <a:ext cx="4544700" cy="287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202020"/>
                </a:solidFill>
                <a:latin typeface="Arial"/>
                <a:ea typeface="Arial"/>
                <a:cs typeface="Arial"/>
                <a:sym typeface="Arial"/>
              </a:rPr>
              <a:t>• анализ структуры итогового XML и требований к заполнению полей;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202020"/>
                </a:solidFill>
                <a:latin typeface="Arial"/>
                <a:ea typeface="Arial"/>
                <a:cs typeface="Arial"/>
                <a:sym typeface="Arial"/>
              </a:rPr>
              <a:t>• разработка гибридной классификации: ключевые слова, заголовки и TF–IDF;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202020"/>
                </a:solidFill>
                <a:latin typeface="Arial"/>
                <a:ea typeface="Arial"/>
                <a:cs typeface="Arial"/>
                <a:sym typeface="Arial"/>
              </a:rPr>
              <a:t>• реализация модуля классификации юридических документов;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202020"/>
                </a:solidFill>
                <a:latin typeface="Arial"/>
                <a:ea typeface="Arial"/>
                <a:cs typeface="Arial"/>
                <a:sym typeface="Arial"/>
              </a:rPr>
              <a:t>• анализ методов извлечения полей и обоснование гибридного подхода;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202020"/>
                </a:solidFill>
                <a:latin typeface="Arial"/>
                <a:ea typeface="Arial"/>
                <a:cs typeface="Arial"/>
                <a:sym typeface="Arial"/>
              </a:rPr>
              <a:t>• проектирование промпта для LLM и строгого JSON-ответа;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202020"/>
                </a:solidFill>
                <a:latin typeface="Arial"/>
                <a:ea typeface="Arial"/>
                <a:cs typeface="Arial"/>
                <a:sym typeface="Arial"/>
              </a:rPr>
              <a:t>• нормализация извлеченных данных и формирование итогового XML.</a:t>
            </a:r>
            <a:endParaRPr/>
          </a:p>
        </p:txBody>
      </p:sp>
      <p:sp>
        <p:nvSpPr>
          <p:cNvPr id="389" name="Google Shape;389;p28"/>
          <p:cNvSpPr/>
          <p:nvPr/>
        </p:nvSpPr>
        <p:spPr>
          <a:xfrm>
            <a:off x="868680" y="5650992"/>
            <a:ext cx="9875400" cy="658500"/>
          </a:xfrm>
          <a:prstGeom prst="roundRect">
            <a:avLst>
              <a:gd fmla="val 16667" name="adj"/>
            </a:avLst>
          </a:prstGeom>
          <a:solidFill>
            <a:srgbClr val="ECF3FF"/>
          </a:solidFill>
          <a:ln cap="flat" cmpd="sng" w="15225">
            <a:solidFill>
              <a:srgbClr val="3169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127000" spcFirstLastPara="1" rIns="1270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26479A"/>
                </a:solidFill>
                <a:latin typeface="Arial"/>
                <a:ea typeface="Arial"/>
                <a:cs typeface="Arial"/>
                <a:sym typeface="Arial"/>
              </a:rPr>
              <a:t>Совместно: </a:t>
            </a:r>
            <a:r>
              <a:rPr b="0" i="0" lang="en-US" sz="1350" u="none" cap="none" strike="noStrike">
                <a:solidFill>
                  <a:srgbClr val="202020"/>
                </a:solidFill>
                <a:latin typeface="Arial"/>
                <a:ea typeface="Arial"/>
                <a:cs typeface="Arial"/>
                <a:sym typeface="Arial"/>
              </a:rPr>
              <a:t>постановка задачи, анализ исходных документов, обсуждение архитектуры решения и тестирование итоговой системы</a:t>
            </a:r>
            <a:endParaRPr/>
          </a:p>
        </p:txBody>
      </p:sp>
      <p:sp>
        <p:nvSpPr>
          <p:cNvPr id="390" name="Google Shape;390;p28"/>
          <p:cNvSpPr txBox="1"/>
          <p:nvPr/>
        </p:nvSpPr>
        <p:spPr>
          <a:xfrm>
            <a:off x="11774700" y="6457800"/>
            <a:ext cx="417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23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29"/>
          <p:cNvSpPr/>
          <p:nvPr/>
        </p:nvSpPr>
        <p:spPr>
          <a:xfrm>
            <a:off x="2164650" y="2925900"/>
            <a:ext cx="7862700" cy="1006200"/>
          </a:xfrm>
          <a:prstGeom prst="roundRect">
            <a:avLst>
              <a:gd fmla="val 2254" name="adj"/>
            </a:avLst>
          </a:prstGeom>
          <a:solidFill>
            <a:srgbClr val="EFF6FF"/>
          </a:solidFill>
          <a:ln cap="flat" cmpd="sng" w="9525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800">
                <a:solidFill>
                  <a:srgbClr val="1E3A8A"/>
                </a:solidFill>
              </a:rPr>
              <a:t>Спасибо за внимание!</a:t>
            </a:r>
            <a:endParaRPr sz="4100">
              <a:solidFill>
                <a:srgbClr val="1E3A8A"/>
              </a:solidFill>
            </a:endParaRPr>
          </a:p>
        </p:txBody>
      </p:sp>
      <p:sp>
        <p:nvSpPr>
          <p:cNvPr id="397" name="Google Shape;397;p29"/>
          <p:cNvSpPr txBox="1"/>
          <p:nvPr/>
        </p:nvSpPr>
        <p:spPr>
          <a:xfrm>
            <a:off x="11745425" y="6457800"/>
            <a:ext cx="446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24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30"/>
          <p:cNvSpPr/>
          <p:nvPr/>
        </p:nvSpPr>
        <p:spPr>
          <a:xfrm>
            <a:off x="632400" y="0"/>
            <a:ext cx="11141400" cy="114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rgbClr val="1E3A8A"/>
                </a:solidFill>
              </a:rPr>
              <a:t>Сравнение методов классификации</a:t>
            </a:r>
            <a:endParaRPr b="1" sz="2400">
              <a:solidFill>
                <a:srgbClr val="1E3A8A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2400"/>
              <a:buFont typeface="Arial"/>
              <a:buNone/>
            </a:pPr>
            <a:r>
              <a:t/>
            </a:r>
            <a:endParaRPr b="1" sz="2400">
              <a:solidFill>
                <a:srgbClr val="1E3A8A"/>
              </a:solidFill>
            </a:endParaRPr>
          </a:p>
        </p:txBody>
      </p:sp>
      <p:cxnSp>
        <p:nvCxnSpPr>
          <p:cNvPr id="404" name="Google Shape;404;p30"/>
          <p:cNvCxnSpPr/>
          <p:nvPr/>
        </p:nvCxnSpPr>
        <p:spPr>
          <a:xfrm>
            <a:off x="597697" y="780299"/>
            <a:ext cx="10927200" cy="0"/>
          </a:xfrm>
          <a:prstGeom prst="straightConnector1">
            <a:avLst/>
          </a:prstGeom>
          <a:noFill/>
          <a:ln cap="flat" cmpd="sng" w="15225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405" name="Google Shape;405;p30"/>
          <p:cNvGrpSpPr/>
          <p:nvPr/>
        </p:nvGrpSpPr>
        <p:grpSpPr>
          <a:xfrm>
            <a:off x="345703" y="946540"/>
            <a:ext cx="2649226" cy="2399539"/>
            <a:chOff x="462773" y="1321163"/>
            <a:chExt cx="3478500" cy="1451100"/>
          </a:xfrm>
        </p:grpSpPr>
        <p:sp>
          <p:nvSpPr>
            <p:cNvPr id="406" name="Google Shape;406;p30"/>
            <p:cNvSpPr/>
            <p:nvPr/>
          </p:nvSpPr>
          <p:spPr>
            <a:xfrm>
              <a:off x="462773" y="1321163"/>
              <a:ext cx="3478500" cy="1451100"/>
            </a:xfrm>
            <a:prstGeom prst="roundRect">
              <a:avLst>
                <a:gd fmla="val 5634" name="adj"/>
              </a:avLst>
            </a:prstGeom>
            <a:solidFill>
              <a:srgbClr val="F3F4F6"/>
            </a:solidFill>
            <a:ln cap="flat" cmpd="sng" w="9300">
              <a:solidFill>
                <a:srgbClr val="D1D5D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9225" lIns="89225" spcFirstLastPara="1" rIns="89225" wrap="square" tIns="892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" name="Google Shape;407;p30"/>
            <p:cNvSpPr/>
            <p:nvPr/>
          </p:nvSpPr>
          <p:spPr>
            <a:xfrm>
              <a:off x="594355" y="1425225"/>
              <a:ext cx="2791500" cy="237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73"/>
                <a:buFont typeface="Arial"/>
                <a:buNone/>
              </a:pPr>
              <a:r>
                <a:rPr b="1" lang="en-US" sz="1317">
                  <a:solidFill>
                    <a:srgbClr val="1E3A8A"/>
                  </a:solidFill>
                </a:rPr>
                <a:t>Размер данных и необходимость обучения</a:t>
              </a:r>
              <a:endParaRPr b="1" sz="1317">
                <a:solidFill>
                  <a:srgbClr val="1E3A8A"/>
                </a:solidFill>
              </a:endParaRPr>
            </a:p>
          </p:txBody>
        </p:sp>
        <p:sp>
          <p:nvSpPr>
            <p:cNvPr id="408" name="Google Shape;408;p30"/>
            <p:cNvSpPr/>
            <p:nvPr/>
          </p:nvSpPr>
          <p:spPr>
            <a:xfrm>
              <a:off x="616375" y="1749275"/>
              <a:ext cx="3171300" cy="94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475569"/>
                </a:buClr>
                <a:buSzPts val="1190"/>
                <a:buFont typeface="Arial"/>
                <a:buNone/>
              </a:pPr>
              <a:r>
                <a:rPr lang="en-US" sz="1299">
                  <a:solidFill>
                    <a:schemeClr val="dk1"/>
                  </a:solidFill>
                </a:rPr>
                <a:t>Методы сравнивались по тому, требуется ли им большой размеченный корпус. В условиях малого набора эталонов преимущество получили подходы без дообучения.</a:t>
              </a:r>
              <a:endParaRPr b="0" i="0" sz="1299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09" name="Google Shape;409;p30"/>
          <p:cNvGrpSpPr/>
          <p:nvPr/>
        </p:nvGrpSpPr>
        <p:grpSpPr>
          <a:xfrm>
            <a:off x="3225675" y="957600"/>
            <a:ext cx="2649226" cy="2399539"/>
            <a:chOff x="462773" y="1321163"/>
            <a:chExt cx="3478500" cy="1451100"/>
          </a:xfrm>
        </p:grpSpPr>
        <p:sp>
          <p:nvSpPr>
            <p:cNvPr id="410" name="Google Shape;410;p30"/>
            <p:cNvSpPr/>
            <p:nvPr/>
          </p:nvSpPr>
          <p:spPr>
            <a:xfrm>
              <a:off x="462773" y="1321163"/>
              <a:ext cx="3478500" cy="1451100"/>
            </a:xfrm>
            <a:prstGeom prst="roundRect">
              <a:avLst>
                <a:gd fmla="val 5634" name="adj"/>
              </a:avLst>
            </a:prstGeom>
            <a:solidFill>
              <a:schemeClr val="lt1"/>
            </a:solidFill>
            <a:ln cap="flat" cmpd="sng" w="11550">
              <a:solidFill>
                <a:srgbClr val="D1D5D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10825" lIns="110825" spcFirstLastPara="1" rIns="110825" wrap="square" tIns="110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97"/>
            </a:p>
          </p:txBody>
        </p:sp>
        <p:sp>
          <p:nvSpPr>
            <p:cNvPr id="411" name="Google Shape;411;p30"/>
            <p:cNvSpPr/>
            <p:nvPr/>
          </p:nvSpPr>
          <p:spPr>
            <a:xfrm>
              <a:off x="594355" y="1425225"/>
              <a:ext cx="2791500" cy="237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33"/>
                <a:buFont typeface="Arial"/>
                <a:buNone/>
              </a:pPr>
              <a:r>
                <a:rPr b="1" lang="en-US" sz="1336">
                  <a:solidFill>
                    <a:srgbClr val="1E3A8A"/>
                  </a:solidFill>
                </a:rPr>
                <a:t>Устойчивость к OCR шуму</a:t>
              </a:r>
              <a:endParaRPr b="1" sz="1336">
                <a:solidFill>
                  <a:srgbClr val="1E3A8A"/>
                </a:solidFill>
              </a:endParaRPr>
            </a:p>
          </p:txBody>
        </p:sp>
        <p:sp>
          <p:nvSpPr>
            <p:cNvPr id="412" name="Google Shape;412;p30"/>
            <p:cNvSpPr/>
            <p:nvPr/>
          </p:nvSpPr>
          <p:spPr>
            <a:xfrm>
              <a:off x="594363" y="1787938"/>
              <a:ext cx="3193200" cy="7608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475569"/>
                </a:buClr>
                <a:buSzPts val="1479"/>
                <a:buFont typeface="Arial"/>
                <a:buNone/>
              </a:pPr>
              <a:r>
                <a:rPr lang="en-US" sz="1279">
                  <a:solidFill>
                    <a:schemeClr val="dk1"/>
                  </a:solidFill>
                </a:rPr>
                <a:t>Используются </a:t>
              </a:r>
              <a:r>
                <a:rPr b="1" lang="en-US" sz="1279">
                  <a:solidFill>
                    <a:schemeClr val="dk1"/>
                  </a:solidFill>
                </a:rPr>
                <a:t>TF-IDF</a:t>
              </a:r>
              <a:r>
                <a:rPr lang="en-US" sz="1279">
                  <a:solidFill>
                    <a:schemeClr val="dk1"/>
                  </a:solidFill>
                </a:rPr>
                <a:t> признаки по символьным n-граммам, которые частично сохраняют сходство даже при ошибках распознавания.</a:t>
              </a:r>
              <a:endParaRPr sz="1279">
                <a:solidFill>
                  <a:schemeClr val="dk1"/>
                </a:solidFill>
              </a:endParaRPr>
            </a:p>
          </p:txBody>
        </p:sp>
      </p:grpSp>
      <p:grpSp>
        <p:nvGrpSpPr>
          <p:cNvPr id="413" name="Google Shape;413;p30"/>
          <p:cNvGrpSpPr/>
          <p:nvPr/>
        </p:nvGrpSpPr>
        <p:grpSpPr>
          <a:xfrm>
            <a:off x="6116063" y="957600"/>
            <a:ext cx="2649226" cy="2399539"/>
            <a:chOff x="462773" y="1321163"/>
            <a:chExt cx="3478500" cy="1451100"/>
          </a:xfrm>
        </p:grpSpPr>
        <p:sp>
          <p:nvSpPr>
            <p:cNvPr id="414" name="Google Shape;414;p30"/>
            <p:cNvSpPr/>
            <p:nvPr/>
          </p:nvSpPr>
          <p:spPr>
            <a:xfrm>
              <a:off x="462773" y="1321163"/>
              <a:ext cx="3478500" cy="1451100"/>
            </a:xfrm>
            <a:prstGeom prst="roundRect">
              <a:avLst>
                <a:gd fmla="val 5634" name="adj"/>
              </a:avLst>
            </a:prstGeom>
            <a:solidFill>
              <a:srgbClr val="F3F4F6"/>
            </a:solidFill>
            <a:ln cap="flat" cmpd="sng" w="9650">
              <a:solidFill>
                <a:srgbClr val="D1D5D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2700" lIns="92700" spcFirstLastPara="1" rIns="92700" wrap="square" tIns="92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20"/>
            </a:p>
          </p:txBody>
        </p:sp>
        <p:sp>
          <p:nvSpPr>
            <p:cNvPr id="415" name="Google Shape;415;p30"/>
            <p:cNvSpPr/>
            <p:nvPr/>
          </p:nvSpPr>
          <p:spPr>
            <a:xfrm>
              <a:off x="594355" y="1425225"/>
              <a:ext cx="2791500" cy="237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15"/>
                <a:buFont typeface="Arial"/>
                <a:buNone/>
              </a:pPr>
              <a:r>
                <a:rPr b="1" lang="en-US" sz="1300">
                  <a:solidFill>
                    <a:srgbClr val="1E3A8A"/>
                  </a:solidFill>
                </a:rPr>
                <a:t>Вычислительные ресурсы</a:t>
              </a:r>
              <a:endParaRPr b="1" sz="1300">
                <a:solidFill>
                  <a:srgbClr val="1E3A8A"/>
                </a:solidFill>
              </a:endParaRPr>
            </a:p>
          </p:txBody>
        </p:sp>
        <p:sp>
          <p:nvSpPr>
            <p:cNvPr id="416" name="Google Shape;416;p30"/>
            <p:cNvSpPr/>
            <p:nvPr/>
          </p:nvSpPr>
          <p:spPr>
            <a:xfrm>
              <a:off x="616375" y="1758410"/>
              <a:ext cx="3171300" cy="83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15"/>
                <a:buFont typeface="Arial"/>
                <a:buNone/>
              </a:pPr>
              <a:r>
                <a:rPr lang="en-US" sz="1237">
                  <a:solidFill>
                    <a:schemeClr val="dk1"/>
                  </a:solidFill>
                </a:rPr>
                <a:t>Сравнение учитывало требования к запуску: потребление VRAM в GB, возможность работы без GPU и пригодность для локального запуска.</a:t>
              </a:r>
              <a:endParaRPr sz="1237">
                <a:solidFill>
                  <a:schemeClr val="dk1"/>
                </a:solidFill>
              </a:endParaRPr>
            </a:p>
          </p:txBody>
        </p:sp>
      </p:grpSp>
      <p:graphicFrame>
        <p:nvGraphicFramePr>
          <p:cNvPr id="417" name="Google Shape;417;p30"/>
          <p:cNvGraphicFramePr/>
          <p:nvPr/>
        </p:nvGraphicFramePr>
        <p:xfrm>
          <a:off x="2405550" y="34194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{BDA16412-8DA7-4E10-A734-24902FDF6F4A}</a:tableStyleId>
              </a:tblPr>
              <a:tblGrid>
                <a:gridCol w="1758275"/>
                <a:gridCol w="1700600"/>
                <a:gridCol w="980000"/>
                <a:gridCol w="1441175"/>
                <a:gridCol w="1715025"/>
              </a:tblGrid>
              <a:tr h="966175">
                <a:tc>
                  <a:txBody>
                    <a:bodyPr/>
                    <a:lstStyle/>
                    <a:p>
                      <a:pPr indent="0" lvl="0" marL="635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Подход  </a:t>
                      </a:r>
                      <a:endParaRPr b="1" sz="1200"/>
                    </a:p>
                  </a:txBody>
                  <a:tcPr marT="0" marB="0" marR="91425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35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Реализация / модель  </a:t>
                      </a:r>
                      <a:endParaRPr b="1" sz="1200"/>
                    </a:p>
                  </a:txBody>
                  <a:tcPr marT="0" marB="0" marR="91425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35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Размер модели </a:t>
                      </a:r>
                      <a:endParaRPr b="1" sz="1200"/>
                    </a:p>
                  </a:txBody>
                  <a:tcPr marT="0" marB="0" marR="91425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35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Примерное пиковое потребление VRAM  </a:t>
                      </a:r>
                      <a:endParaRPr b="1" sz="1200"/>
                    </a:p>
                  </a:txBody>
                  <a:tcPr marT="0" marB="0" marR="91425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35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Оценка качества классификации  </a:t>
                      </a:r>
                      <a:endParaRPr b="1" sz="1200"/>
                    </a:p>
                  </a:txBody>
                  <a:tcPr marT="0" marB="0" marR="91425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16825">
                <a:tc>
                  <a:txBody>
                    <a:bodyPr/>
                    <a:lstStyle/>
                    <a:p>
                      <a:pPr indent="0" lvl="0" marL="635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Классификация по правилам  </a:t>
                      </a:r>
                      <a:endParaRPr b="1" sz="1200"/>
                    </a:p>
                  </a:txBody>
                  <a:tcPr marT="0" marB="0" marR="91425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35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Заголовки, ключевые фразы, регулярные выражения  </a:t>
                      </a:r>
                      <a:endParaRPr sz="1200"/>
                    </a:p>
                  </a:txBody>
                  <a:tcPr marT="0" marB="0" marR="91425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35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- </a:t>
                      </a:r>
                      <a:endParaRPr sz="1200"/>
                    </a:p>
                  </a:txBody>
                  <a:tcPr marT="0" marB="0" marR="91425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35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0 GB  </a:t>
                      </a:r>
                      <a:endParaRPr sz="1200"/>
                    </a:p>
                  </a:txBody>
                  <a:tcPr marT="0" marB="0" marR="91425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35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75–85% </a:t>
                      </a:r>
                      <a:endParaRPr sz="1200"/>
                    </a:p>
                  </a:txBody>
                  <a:tcPr marT="0" marB="0" marR="91425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12250">
                <a:tc>
                  <a:txBody>
                    <a:bodyPr/>
                    <a:lstStyle/>
                    <a:p>
                      <a:pPr indent="0" lvl="0" marL="635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Статистическое сравнение с эталонами  </a:t>
                      </a:r>
                      <a:endParaRPr b="1" sz="1200"/>
                    </a:p>
                  </a:txBody>
                  <a:tcPr marT="0" marB="0" marR="91425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35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TF-IDF + cosine similarity  </a:t>
                      </a:r>
                      <a:endParaRPr sz="1200"/>
                    </a:p>
                  </a:txBody>
                  <a:tcPr marT="0" marB="0" marR="91425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35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- </a:t>
                      </a:r>
                      <a:endParaRPr sz="1200"/>
                    </a:p>
                  </a:txBody>
                  <a:tcPr marT="0" marB="0" marR="91425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35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0 GB  </a:t>
                      </a:r>
                      <a:endParaRPr sz="1200"/>
                    </a:p>
                  </a:txBody>
                  <a:tcPr marT="0" marB="0" marR="91425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35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80–88% </a:t>
                      </a:r>
                      <a:endParaRPr sz="1200"/>
                    </a:p>
                  </a:txBody>
                  <a:tcPr marT="0" marB="0" marR="91425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12250">
                <a:tc>
                  <a:txBody>
                    <a:bodyPr/>
                    <a:lstStyle/>
                    <a:p>
                      <a:pPr indent="0" lvl="0" marL="635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Гибридный подход  </a:t>
                      </a:r>
                      <a:endParaRPr b="1" sz="1200"/>
                    </a:p>
                  </a:txBody>
                  <a:tcPr marT="0" marB="0" marR="91425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35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Правила + TF-IDF + cosine similarity  </a:t>
                      </a:r>
                      <a:endParaRPr sz="1200"/>
                    </a:p>
                  </a:txBody>
                  <a:tcPr marT="0" marB="0" marR="91425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35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- </a:t>
                      </a:r>
                      <a:endParaRPr sz="1200"/>
                    </a:p>
                  </a:txBody>
                  <a:tcPr marT="0" marB="0" marR="91425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35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0 GB  </a:t>
                      </a:r>
                      <a:endParaRPr sz="1200"/>
                    </a:p>
                  </a:txBody>
                  <a:tcPr marT="0" marB="0" marR="91425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35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82–93% </a:t>
                      </a:r>
                      <a:endParaRPr sz="1200"/>
                    </a:p>
                  </a:txBody>
                  <a:tcPr marT="0" marB="0" marR="91425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418" name="Google Shape;418;p30"/>
          <p:cNvGrpSpPr/>
          <p:nvPr/>
        </p:nvGrpSpPr>
        <p:grpSpPr>
          <a:xfrm>
            <a:off x="9006478" y="957604"/>
            <a:ext cx="2649226" cy="2399539"/>
            <a:chOff x="12334496" y="2730539"/>
            <a:chExt cx="3478500" cy="1451100"/>
          </a:xfrm>
        </p:grpSpPr>
        <p:sp>
          <p:nvSpPr>
            <p:cNvPr id="419" name="Google Shape;419;p30"/>
            <p:cNvSpPr/>
            <p:nvPr/>
          </p:nvSpPr>
          <p:spPr>
            <a:xfrm>
              <a:off x="12334496" y="2730539"/>
              <a:ext cx="3478500" cy="1451100"/>
            </a:xfrm>
            <a:prstGeom prst="roundRect">
              <a:avLst>
                <a:gd fmla="val 5634" name="adj"/>
              </a:avLst>
            </a:prstGeom>
            <a:solidFill>
              <a:schemeClr val="lt1"/>
            </a:solidFill>
            <a:ln cap="flat" cmpd="sng" w="9850">
              <a:solidFill>
                <a:srgbClr val="D1D5D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4500" lIns="94500" spcFirstLastPara="1" rIns="94500" wrap="square" tIns="94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8"/>
            </a:p>
          </p:txBody>
        </p:sp>
        <p:sp>
          <p:nvSpPr>
            <p:cNvPr id="420" name="Google Shape;420;p30"/>
            <p:cNvSpPr/>
            <p:nvPr/>
          </p:nvSpPr>
          <p:spPr>
            <a:xfrm>
              <a:off x="12488085" y="2769477"/>
              <a:ext cx="2791500" cy="237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37"/>
                <a:buFont typeface="Arial"/>
                <a:buNone/>
              </a:pPr>
              <a:r>
                <a:rPr b="1" lang="en-US" sz="1310">
                  <a:solidFill>
                    <a:srgbClr val="1E3A8A"/>
                  </a:solidFill>
                </a:rPr>
                <a:t>Расчет качества</a:t>
              </a:r>
              <a:endParaRPr b="1" sz="1310">
                <a:solidFill>
                  <a:srgbClr val="1E3A8A"/>
                </a:solidFill>
              </a:endParaRPr>
            </a:p>
          </p:txBody>
        </p:sp>
        <p:sp>
          <p:nvSpPr>
            <p:cNvPr id="421" name="Google Shape;421;p30"/>
            <p:cNvSpPr/>
            <p:nvPr/>
          </p:nvSpPr>
          <p:spPr>
            <a:xfrm>
              <a:off x="12488115" y="3034723"/>
              <a:ext cx="3171300" cy="945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475569"/>
                </a:buClr>
                <a:buSzPts val="1261"/>
                <a:buFont typeface="Arial"/>
                <a:buNone/>
              </a:pPr>
              <a:r>
                <a:rPr lang="en-US" sz="1291">
                  <a:solidFill>
                    <a:schemeClr val="dk1"/>
                  </a:solidFill>
                </a:rPr>
                <a:t>Качество считалось по метрике </a:t>
              </a:r>
              <a:r>
                <a:rPr b="1" lang="en-US" sz="1291">
                  <a:solidFill>
                    <a:schemeClr val="dk1"/>
                  </a:solidFill>
                </a:rPr>
                <a:t>Accuracy</a:t>
              </a:r>
              <a:r>
                <a:rPr lang="en-US" sz="1291">
                  <a:solidFill>
                    <a:schemeClr val="dk1"/>
                  </a:solidFill>
                </a:rPr>
                <a:t>: доля документов, где предсказанный класс совпал с известным типом. Для методов с оценками по классам итоговый класс выбирался по максимальному значению score.</a:t>
              </a:r>
              <a:endParaRPr b="0" i="0" sz="1291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22" name="Google Shape;422;p30"/>
          <p:cNvSpPr txBox="1"/>
          <p:nvPr/>
        </p:nvSpPr>
        <p:spPr>
          <a:xfrm>
            <a:off x="11773800" y="6457800"/>
            <a:ext cx="418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27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28" name="Google Shape;428;p31"/>
          <p:cNvGraphicFramePr/>
          <p:nvPr/>
        </p:nvGraphicFramePr>
        <p:xfrm>
          <a:off x="1237025" y="1004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{BDA16412-8DA7-4E10-A734-24902FDF6F4A}</a:tableStyleId>
              </a:tblPr>
              <a:tblGrid>
                <a:gridCol w="2245200"/>
                <a:gridCol w="2777950"/>
                <a:gridCol w="1712475"/>
                <a:gridCol w="1427025"/>
                <a:gridCol w="1369950"/>
              </a:tblGrid>
              <a:tr h="1232525">
                <a:tc>
                  <a:txBody>
                    <a:bodyPr/>
                    <a:lstStyle/>
                    <a:p>
                      <a:pPr indent="0" lvl="0" marL="635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Классическая обучаемая классификация  </a:t>
                      </a:r>
                      <a:endParaRPr b="1"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35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TF-IDF + Logistic Regression  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35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- 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35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0 GB  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35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65-75%  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32525">
                <a:tc>
                  <a:txBody>
                    <a:bodyPr/>
                    <a:lstStyle/>
                    <a:p>
                      <a:pPr indent="0" lvl="0" marL="635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Классическая обучаемая классификация  </a:t>
                      </a:r>
                      <a:endParaRPr b="1"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35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TF-IDF + Linear SVM  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35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- 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35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0 GB  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35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70-80%  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94050">
                <a:tc>
                  <a:txBody>
                    <a:bodyPr/>
                    <a:lstStyle/>
                    <a:p>
                      <a:pPr indent="0" lvl="0" marL="635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Семантическое сходство на основе embedding-моделей   </a:t>
                      </a:r>
                      <a:endParaRPr b="1"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35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all-MiniLM-L6-v2 + cosine similarity  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35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384-мерные embedding-векторы  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35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0,5-1 GB  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35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65-76%  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94050">
                <a:tc>
                  <a:txBody>
                    <a:bodyPr/>
                    <a:lstStyle/>
                    <a:p>
                      <a:pPr indent="0" lvl="0" marL="635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Семантическое сходство на основе embedding-моделей   </a:t>
                      </a:r>
                      <a:endParaRPr b="1"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35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all-mpnet-base-v2 + cosine similarity  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35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768-мерные embedding-векторы  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35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1-2 GB  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35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75-87%  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29" name="Google Shape;429;p31"/>
          <p:cNvSpPr/>
          <p:nvPr/>
        </p:nvSpPr>
        <p:spPr>
          <a:xfrm>
            <a:off x="623625" y="0"/>
            <a:ext cx="11141400" cy="114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rgbClr val="1E3A8A"/>
                </a:solidFill>
              </a:rPr>
              <a:t>Анализ применения моделей нейронных сетей для задачи классификации документа</a:t>
            </a:r>
            <a:endParaRPr b="1" sz="2400">
              <a:solidFill>
                <a:srgbClr val="1E3A8A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2400"/>
              <a:buFont typeface="Arial"/>
              <a:buNone/>
            </a:pPr>
            <a:r>
              <a:t/>
            </a:r>
            <a:endParaRPr b="1" sz="2400">
              <a:solidFill>
                <a:srgbClr val="1E3A8A"/>
              </a:solidFill>
            </a:endParaRPr>
          </a:p>
        </p:txBody>
      </p:sp>
      <p:cxnSp>
        <p:nvCxnSpPr>
          <p:cNvPr id="430" name="Google Shape;430;p31"/>
          <p:cNvCxnSpPr/>
          <p:nvPr/>
        </p:nvCxnSpPr>
        <p:spPr>
          <a:xfrm>
            <a:off x="632410" y="809574"/>
            <a:ext cx="10927200" cy="0"/>
          </a:xfrm>
          <a:prstGeom prst="straightConnector1">
            <a:avLst/>
          </a:prstGeom>
          <a:noFill/>
          <a:ln cap="flat" cmpd="sng" w="15225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31" name="Google Shape;431;p31"/>
          <p:cNvSpPr txBox="1"/>
          <p:nvPr/>
        </p:nvSpPr>
        <p:spPr>
          <a:xfrm>
            <a:off x="11765025" y="6457800"/>
            <a:ext cx="426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28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37" name="Google Shape;437;p32"/>
          <p:cNvGraphicFramePr/>
          <p:nvPr/>
        </p:nvGraphicFramePr>
        <p:xfrm>
          <a:off x="913325" y="1014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{BDA16412-8DA7-4E10-A734-24902FDF6F4A}</a:tableStyleId>
              </a:tblPr>
              <a:tblGrid>
                <a:gridCol w="2350775"/>
                <a:gridCol w="2928500"/>
                <a:gridCol w="1832800"/>
                <a:gridCol w="1892575"/>
                <a:gridCol w="1294925"/>
              </a:tblGrid>
              <a:tr h="1460875">
                <a:tc>
                  <a:txBody>
                    <a:bodyPr/>
                    <a:lstStyle/>
                    <a:p>
                      <a:pPr indent="0" lvl="0" marL="635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LLM-классификация с дообучением  </a:t>
                      </a:r>
                      <a:endParaRPr b="1"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35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Qwen2.5-1.5B-Instruct + LoRA / fine-tuning  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35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1,54B параметров  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35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6-10 GB при дообучении  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35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72-83%  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460875">
                <a:tc>
                  <a:txBody>
                    <a:bodyPr/>
                    <a:lstStyle/>
                    <a:p>
                      <a:pPr indent="0" lvl="0" marL="635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LLM-классификация с дообучением   </a:t>
                      </a:r>
                      <a:endParaRPr b="1"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35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Qwen2.5-7B-Instruct + LoRA / fine-tuning  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35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7,61B параметров  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35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12-16 GB при дообучении  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35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80</a:t>
                      </a:r>
                      <a:r>
                        <a:rPr lang="en-US" sz="1200"/>
                        <a:t>-95%  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460875">
                <a:tc>
                  <a:txBody>
                    <a:bodyPr/>
                    <a:lstStyle/>
                    <a:p>
                      <a:pPr indent="0" lvl="0" marL="635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LLM-классификация без обучения  </a:t>
                      </a:r>
                      <a:endParaRPr b="1"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35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Qwen2.5-1.5B-Instruct + prompt  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35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1,54B параметров  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35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2–- GB в 4b-it  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35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72-85%  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460875">
                <a:tc>
                  <a:txBody>
                    <a:bodyPr/>
                    <a:lstStyle/>
                    <a:p>
                      <a:pPr indent="0" lvl="0" marL="635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LLM-классификация без обучения  </a:t>
                      </a:r>
                      <a:endParaRPr b="1"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35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Qwen2.5-7B-Instruct + prompt  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35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7,61B параметров  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35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7-12 GB в 4-bit  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35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80-93%  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38" name="Google Shape;438;p32"/>
          <p:cNvSpPr/>
          <p:nvPr/>
        </p:nvSpPr>
        <p:spPr>
          <a:xfrm>
            <a:off x="623625" y="0"/>
            <a:ext cx="11141400" cy="114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rgbClr val="1E3A8A"/>
                </a:solidFill>
              </a:rPr>
              <a:t>Анализ применения моделей нейронных сетей для задачи классификации документа</a:t>
            </a:r>
            <a:endParaRPr b="1" sz="2400">
              <a:solidFill>
                <a:srgbClr val="1E3A8A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2400"/>
              <a:buFont typeface="Arial"/>
              <a:buNone/>
            </a:pPr>
            <a:r>
              <a:t/>
            </a:r>
            <a:endParaRPr b="1" sz="2400">
              <a:solidFill>
                <a:srgbClr val="1E3A8A"/>
              </a:solidFill>
            </a:endParaRPr>
          </a:p>
        </p:txBody>
      </p:sp>
      <p:cxnSp>
        <p:nvCxnSpPr>
          <p:cNvPr id="439" name="Google Shape;439;p32"/>
          <p:cNvCxnSpPr/>
          <p:nvPr/>
        </p:nvCxnSpPr>
        <p:spPr>
          <a:xfrm>
            <a:off x="632410" y="809574"/>
            <a:ext cx="10927200" cy="0"/>
          </a:xfrm>
          <a:prstGeom prst="straightConnector1">
            <a:avLst/>
          </a:prstGeom>
          <a:noFill/>
          <a:ln cap="flat" cmpd="sng" w="15225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0" name="Google Shape;440;p32"/>
          <p:cNvSpPr txBox="1"/>
          <p:nvPr/>
        </p:nvSpPr>
        <p:spPr>
          <a:xfrm>
            <a:off x="11765025" y="6457800"/>
            <a:ext cx="426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29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33"/>
          <p:cNvSpPr/>
          <p:nvPr/>
        </p:nvSpPr>
        <p:spPr>
          <a:xfrm>
            <a:off x="623625" y="0"/>
            <a:ext cx="11141400" cy="114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rgbClr val="1E3A8A"/>
                </a:solidFill>
              </a:rPr>
              <a:t>Анализ применения моделей нейронных сетей для задачи классификации документа</a:t>
            </a:r>
            <a:endParaRPr b="1" sz="2400">
              <a:solidFill>
                <a:srgbClr val="1E3A8A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2400"/>
              <a:buFont typeface="Arial"/>
              <a:buNone/>
            </a:pPr>
            <a:r>
              <a:t/>
            </a:r>
            <a:endParaRPr b="1" sz="2400">
              <a:solidFill>
                <a:srgbClr val="1E3A8A"/>
              </a:solidFill>
            </a:endParaRPr>
          </a:p>
        </p:txBody>
      </p:sp>
      <p:cxnSp>
        <p:nvCxnSpPr>
          <p:cNvPr id="447" name="Google Shape;447;p33"/>
          <p:cNvCxnSpPr/>
          <p:nvPr/>
        </p:nvCxnSpPr>
        <p:spPr>
          <a:xfrm>
            <a:off x="632410" y="809574"/>
            <a:ext cx="10927200" cy="0"/>
          </a:xfrm>
          <a:prstGeom prst="straightConnector1">
            <a:avLst/>
          </a:prstGeom>
          <a:noFill/>
          <a:ln cap="flat" cmpd="sng" w="15225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8" name="Google Shape;448;p33"/>
          <p:cNvSpPr/>
          <p:nvPr/>
        </p:nvSpPr>
        <p:spPr>
          <a:xfrm>
            <a:off x="632400" y="925350"/>
            <a:ext cx="3396600" cy="4059600"/>
          </a:xfrm>
          <a:prstGeom prst="roundRect">
            <a:avLst>
              <a:gd fmla="val 2254" name="adj"/>
            </a:avLst>
          </a:prstGeom>
          <a:solidFill>
            <a:srgbClr val="EFF6FF"/>
          </a:solidFill>
          <a:ln cap="flat" cmpd="sng" w="9525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p33"/>
          <p:cNvSpPr/>
          <p:nvPr/>
        </p:nvSpPr>
        <p:spPr>
          <a:xfrm>
            <a:off x="803045" y="1085878"/>
            <a:ext cx="2743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1700"/>
              <a:buFont typeface="Arial"/>
              <a:buNone/>
            </a:pPr>
            <a:r>
              <a:rPr b="1" lang="en-US" sz="1700">
                <a:solidFill>
                  <a:srgbClr val="1E3A8A"/>
                </a:solidFill>
              </a:rPr>
              <a:t>Сопоставимое качество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" name="Google Shape;450;p33"/>
          <p:cNvSpPr/>
          <p:nvPr/>
        </p:nvSpPr>
        <p:spPr>
          <a:xfrm>
            <a:off x="877650" y="1512075"/>
            <a:ext cx="2906100" cy="312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80">
                <a:solidFill>
                  <a:srgbClr val="1F2937"/>
                </a:solidFill>
              </a:rPr>
              <a:t>Большая часть рассмотренных подходов показали близкий уровень качества классификации. Более тяжелые LLM-методы могут давать лучший результат на отдельных документах, но такой прирост качества, также влечет за собой увеличение необходимых вычислительных ресурсов.</a:t>
            </a:r>
            <a:endParaRPr sz="14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1" name="Google Shape;451;p33"/>
          <p:cNvSpPr/>
          <p:nvPr/>
        </p:nvSpPr>
        <p:spPr>
          <a:xfrm>
            <a:off x="632400" y="5336375"/>
            <a:ext cx="10927200" cy="1302600"/>
          </a:xfrm>
          <a:prstGeom prst="roundRect">
            <a:avLst>
              <a:gd fmla="val 2254" name="adj"/>
            </a:avLst>
          </a:prstGeom>
          <a:solidFill>
            <a:srgbClr val="EFF6FF"/>
          </a:solidFill>
          <a:ln cap="flat" cmpd="sng" w="9525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p33"/>
          <p:cNvSpPr/>
          <p:nvPr/>
        </p:nvSpPr>
        <p:spPr>
          <a:xfrm>
            <a:off x="1056670" y="5491628"/>
            <a:ext cx="2743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1700"/>
              <a:buFont typeface="Arial"/>
              <a:buNone/>
            </a:pPr>
            <a:r>
              <a:rPr b="1" lang="en-US" sz="1700">
                <a:solidFill>
                  <a:srgbClr val="1E3A8A"/>
                </a:solidFill>
              </a:rPr>
              <a:t>Вывод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3" name="Google Shape;453;p33"/>
          <p:cNvSpPr/>
          <p:nvPr/>
        </p:nvSpPr>
        <p:spPr>
          <a:xfrm>
            <a:off x="1056675" y="5867550"/>
            <a:ext cx="10512300" cy="71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80">
                <a:solidFill>
                  <a:srgbClr val="1F2937"/>
                </a:solidFill>
              </a:rPr>
              <a:t>Для этапа классификации выбран гибридный метод на основе правил и TF-IDF-сходства. Он дает качество, сопоставимое с более ресурсоемкими подходами, но не требует GPU, работает при малом корпусе документов и позволяет объяснить итоговое решение по классу.</a:t>
            </a:r>
            <a:endParaRPr sz="14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4" name="Google Shape;454;p33"/>
          <p:cNvSpPr/>
          <p:nvPr/>
        </p:nvSpPr>
        <p:spPr>
          <a:xfrm>
            <a:off x="4483025" y="919500"/>
            <a:ext cx="3396600" cy="4059600"/>
          </a:xfrm>
          <a:prstGeom prst="roundRect">
            <a:avLst>
              <a:gd fmla="val 2254" name="adj"/>
            </a:avLst>
          </a:prstGeom>
          <a:solidFill>
            <a:srgbClr val="EFF6FF"/>
          </a:solidFill>
          <a:ln cap="flat" cmpd="sng" w="9525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33"/>
          <p:cNvSpPr/>
          <p:nvPr/>
        </p:nvSpPr>
        <p:spPr>
          <a:xfrm>
            <a:off x="4653670" y="1080028"/>
            <a:ext cx="2743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1700"/>
              <a:buFont typeface="Arial"/>
              <a:buNone/>
            </a:pPr>
            <a:r>
              <a:rPr b="1" lang="en-US" sz="1700">
                <a:solidFill>
                  <a:srgbClr val="1E3A8A"/>
                </a:solidFill>
              </a:rPr>
              <a:t>Минимальные требования к ресурсам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6" name="Google Shape;456;p33"/>
          <p:cNvSpPr/>
          <p:nvPr/>
        </p:nvSpPr>
        <p:spPr>
          <a:xfrm>
            <a:off x="4728275" y="1301375"/>
            <a:ext cx="2906100" cy="273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80">
                <a:solidFill>
                  <a:srgbClr val="1F2937"/>
                </a:solidFill>
              </a:rPr>
              <a:t>Выбранный гибридный подход работает без GPU и не использует VRAM, тогда как LLM-классификация требует видеопамять и более сложное окружение для запуска. </a:t>
            </a:r>
            <a:endParaRPr sz="14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7" name="Google Shape;457;p33"/>
          <p:cNvSpPr/>
          <p:nvPr/>
        </p:nvSpPr>
        <p:spPr>
          <a:xfrm>
            <a:off x="8163000" y="919500"/>
            <a:ext cx="3396600" cy="4104600"/>
          </a:xfrm>
          <a:prstGeom prst="roundRect">
            <a:avLst>
              <a:gd fmla="val 2254" name="adj"/>
            </a:avLst>
          </a:prstGeom>
          <a:solidFill>
            <a:srgbClr val="EFF6FF"/>
          </a:solidFill>
          <a:ln cap="flat" cmpd="sng" w="9525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p33"/>
          <p:cNvSpPr/>
          <p:nvPr/>
        </p:nvSpPr>
        <p:spPr>
          <a:xfrm>
            <a:off x="8244151" y="1085875"/>
            <a:ext cx="3070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1700"/>
              <a:buFont typeface="Arial"/>
              <a:buNone/>
            </a:pPr>
            <a:r>
              <a:rPr b="1" lang="en-US" sz="1700">
                <a:solidFill>
                  <a:srgbClr val="1E3A8A"/>
                </a:solidFill>
              </a:rPr>
              <a:t>Объяснимость результата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9" name="Google Shape;459;p33"/>
          <p:cNvSpPr/>
          <p:nvPr/>
        </p:nvSpPr>
        <p:spPr>
          <a:xfrm>
            <a:off x="8408250" y="1252575"/>
            <a:ext cx="2906100" cy="312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80">
                <a:solidFill>
                  <a:srgbClr val="1F2937"/>
                </a:solidFill>
              </a:rPr>
              <a:t>Метод формирует промежуточные оценки: rule_scores, reference_scores и combined_scores, поэтому можно понять, почему документ был отнесен к конкретному классу.</a:t>
            </a:r>
            <a:endParaRPr sz="14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0" name="Google Shape;460;p33"/>
          <p:cNvSpPr txBox="1"/>
          <p:nvPr/>
        </p:nvSpPr>
        <p:spPr>
          <a:xfrm>
            <a:off x="11765025" y="6457800"/>
            <a:ext cx="426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14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34"/>
          <p:cNvSpPr/>
          <p:nvPr/>
        </p:nvSpPr>
        <p:spPr>
          <a:xfrm>
            <a:off x="632400" y="84701"/>
            <a:ext cx="10789800" cy="2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1E3A8A"/>
                </a:solidFill>
              </a:rPr>
              <a:t>Формирование корпуса документов</a:t>
            </a:r>
            <a:endParaRPr sz="2400">
              <a:solidFill>
                <a:srgbClr val="1E3A8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67" name="Google Shape;467;p34"/>
          <p:cNvCxnSpPr/>
          <p:nvPr/>
        </p:nvCxnSpPr>
        <p:spPr>
          <a:xfrm>
            <a:off x="642410" y="419324"/>
            <a:ext cx="10927200" cy="0"/>
          </a:xfrm>
          <a:prstGeom prst="straightConnector1">
            <a:avLst/>
          </a:prstGeom>
          <a:noFill/>
          <a:ln cap="flat" cmpd="sng" w="15225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468" name="Google Shape;468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70300" y="1961698"/>
            <a:ext cx="4764300" cy="28585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69" name="Google Shape;469;p34"/>
          <p:cNvGraphicFramePr/>
          <p:nvPr/>
        </p:nvGraphicFramePr>
        <p:xfrm>
          <a:off x="693000" y="11954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{BDA16412-8DA7-4E10-A734-24902FDF6F4A}</a:tableStyleId>
              </a:tblPr>
              <a:tblGrid>
                <a:gridCol w="1333500"/>
                <a:gridCol w="1028700"/>
                <a:gridCol w="1771650"/>
                <a:gridCol w="2066925"/>
              </a:tblGrid>
              <a:tr h="4678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Тип документа</a:t>
                      </a:r>
                      <a:endParaRPr sz="1200"/>
                    </a:p>
                  </a:txBody>
                  <a:tcPr marT="91425" marB="91425" marR="68575" marL="68575">
                    <a:lnL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Эталонные размеченные примеры</a:t>
                      </a:r>
                      <a:endParaRPr sz="1200"/>
                    </a:p>
                  </a:txBody>
                  <a:tcPr marT="91425" marB="91425" marR="68575" marL="68575">
                    <a:lnL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Дополнительные реальные примеры</a:t>
                      </a:r>
                      <a:endParaRPr sz="1200"/>
                    </a:p>
                  </a:txBody>
                  <a:tcPr marT="91425" marB="91425" marR="68575" marL="68575">
                    <a:lnL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Ключевые поля</a:t>
                      </a:r>
                      <a:endParaRPr sz="1200"/>
                    </a:p>
                  </a:txBody>
                  <a:tcPr marT="91425" marB="91425" marR="68575" marL="68575">
                    <a:lnL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74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Исковое заявление</a:t>
                      </a:r>
                      <a:endParaRPr sz="1200"/>
                    </a:p>
                  </a:txBody>
                  <a:tcPr marT="91425" marB="91425" marR="68575" marL="68575">
                    <a:lnL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5</a:t>
                      </a:r>
                      <a:endParaRPr sz="1200"/>
                    </a:p>
                  </a:txBody>
                  <a:tcPr marT="91425" marB="91425" marR="68575" marL="68575">
                    <a:lnL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по мере накопления корпуса</a:t>
                      </a:r>
                      <a:endParaRPr sz="1200"/>
                    </a:p>
                  </a:txBody>
                  <a:tcPr marT="91425" marB="91425" marR="68575" marL="68575">
                    <a:lnL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Суд, стороны, предмет иска, просительная часть</a:t>
                      </a:r>
                      <a:endParaRPr sz="1200"/>
                    </a:p>
                  </a:txBody>
                  <a:tcPr marT="91425" marB="91425" marR="68575" marL="68575">
                    <a:lnL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56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Решение</a:t>
                      </a:r>
                      <a:endParaRPr sz="1200"/>
                    </a:p>
                  </a:txBody>
                  <a:tcPr marT="91425" marB="91425" marR="68575" marL="68575">
                    <a:lnL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5</a:t>
                      </a:r>
                      <a:endParaRPr sz="1200"/>
                    </a:p>
                  </a:txBody>
                  <a:tcPr marT="91425" marB="91425" marR="68575" marL="68575">
                    <a:lnL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по мере накопления корпуса</a:t>
                      </a:r>
                      <a:endParaRPr sz="1200"/>
                    </a:p>
                  </a:txBody>
                  <a:tcPr marT="91425" marB="91425" marR="68575" marL="68575">
                    <a:lnL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Суд, дата, номер дела, резолютивная часть</a:t>
                      </a:r>
                      <a:endParaRPr sz="1200"/>
                    </a:p>
                  </a:txBody>
                  <a:tcPr marT="91425" marB="91425" marR="68575" marL="68575">
                    <a:lnL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000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Определение</a:t>
                      </a:r>
                      <a:endParaRPr sz="1200"/>
                    </a:p>
                  </a:txBody>
                  <a:tcPr marT="91425" marB="91425" marR="68575" marL="68575">
                    <a:lnL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5</a:t>
                      </a:r>
                      <a:endParaRPr sz="1200"/>
                    </a:p>
                  </a:txBody>
                  <a:tcPr marT="91425" marB="91425" marR="68575" marL="68575">
                    <a:lnL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по мере накопления корпуса</a:t>
                      </a:r>
                      <a:endParaRPr sz="1200"/>
                    </a:p>
                  </a:txBody>
                  <a:tcPr marT="91425" marB="91425" marR="68575" marL="68575">
                    <a:lnL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Вид определения, заседание, предписания</a:t>
                      </a:r>
                      <a:endParaRPr sz="1200"/>
                    </a:p>
                  </a:txBody>
                  <a:tcPr marT="91425" marB="91425" marR="68575" marL="68575">
                    <a:lnL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000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Отзыв</a:t>
                      </a:r>
                      <a:endParaRPr sz="1200"/>
                    </a:p>
                  </a:txBody>
                  <a:tcPr marT="91425" marB="91425" marR="68575" marL="68575">
                    <a:lnL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5</a:t>
                      </a:r>
                      <a:endParaRPr sz="1200"/>
                    </a:p>
                  </a:txBody>
                  <a:tcPr marT="91425" marB="91425" marR="68575" marL="68575">
                    <a:lnL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есть реальные неразмеченные файлы</a:t>
                      </a:r>
                      <a:endParaRPr sz="1200"/>
                    </a:p>
                  </a:txBody>
                  <a:tcPr marT="91425" marB="91425" marR="68575" marL="68575">
                    <a:lnL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Стороны, третьи лица, response_to_document</a:t>
                      </a:r>
                      <a:endParaRPr sz="1200"/>
                    </a:p>
                  </a:txBody>
                  <a:tcPr marT="91425" marB="91425" marR="68575" marL="68575">
                    <a:lnL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000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Апелляционная жалоба</a:t>
                      </a:r>
                      <a:endParaRPr sz="1200"/>
                    </a:p>
                  </a:txBody>
                  <a:tcPr marT="91425" marB="91425" marR="68575" marL="68575">
                    <a:lnL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5</a:t>
                      </a:r>
                      <a:endParaRPr sz="1200"/>
                    </a:p>
                  </a:txBody>
                  <a:tcPr marT="91425" marB="91425" marR="68575" marL="68575">
                    <a:lnL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по мере накопления корпуса</a:t>
                      </a:r>
                      <a:endParaRPr sz="1200"/>
                    </a:p>
                  </a:txBody>
                  <a:tcPr marT="91425" marB="91425" marR="68575" marL="68575">
                    <a:lnL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Обжалуемое решение, суммы, просьба</a:t>
                      </a:r>
                      <a:endParaRPr sz="1200"/>
                    </a:p>
                  </a:txBody>
                  <a:tcPr marT="91425" marB="91425" marR="68575" marL="68575">
                    <a:lnL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000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Судебный приказ</a:t>
                      </a:r>
                      <a:endParaRPr sz="1200"/>
                    </a:p>
                  </a:txBody>
                  <a:tcPr marT="91425" marB="91425" marR="68575" marL="68575">
                    <a:lnL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5</a:t>
                      </a:r>
                      <a:endParaRPr sz="1200"/>
                    </a:p>
                  </a:txBody>
                  <a:tcPr marT="91425" marB="91425" marR="68575" marL="68575">
                    <a:lnL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есть реальные неразмеченные файлы</a:t>
                      </a:r>
                      <a:endParaRPr sz="1200"/>
                    </a:p>
                  </a:txBody>
                  <a:tcPr marT="91425" marB="91425" marR="68575" marL="68575">
                    <a:lnL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Взыскатель, должник, договор, суммы</a:t>
                      </a:r>
                      <a:endParaRPr sz="1200"/>
                    </a:p>
                  </a:txBody>
                  <a:tcPr marT="91425" marB="91425" marR="68575" marL="68575">
                    <a:lnL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70" name="Google Shape;470;p34"/>
          <p:cNvSpPr txBox="1"/>
          <p:nvPr/>
        </p:nvSpPr>
        <p:spPr>
          <a:xfrm>
            <a:off x="11823475" y="6457800"/>
            <a:ext cx="368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9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